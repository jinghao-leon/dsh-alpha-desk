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virattt/ai-hedge-fund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epseek-ai/deepseek-harnes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deepseek-ai/deepseek-harness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66000" y="508000"/>
            <a:ext cx="4318000" cy="5588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3000" b="0" i="0">
                <a:solidFill>
                  <a:srgbClr val="EEF3F2"/>
                </a:solidFill>
              </a:rPr>
              <a:t>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752600"/>
            <a:ext cx="7112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DEEPSEEK-HARNESS · SKILL PACK · 参赛项目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108200"/>
            <a:ext cx="7874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800" b="1" i="0">
                <a:solidFill>
                  <a:srgbClr val="17233B"/>
                </a:solidFill>
              </a:rPr>
              <a:t>Alpha Desk</a:t>
            </a:r>
          </a:p>
          <a:p>
            <a:pPr algn="l">
              <a:spcBef>
                <a:spcPts val="1000"/>
              </a:spcBef>
            </a:pPr>
            <a:r>
              <a:rPr sz="3400" b="0" i="0">
                <a:solidFill>
                  <a:srgbClr val="17233B"/>
                </a:solidFill>
              </a:rPr>
              <a:t>AI 投研工作台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812800" y="4470400"/>
            <a:ext cx="1524000" cy="50800"/>
          </a:xfrm>
          <a:prstGeom prst="rect">
            <a:avLst/>
          </a:prstGeom>
          <a:solidFill>
            <a:srgbClr val="0C5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4749800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700" b="0" i="0">
                <a:solidFill>
                  <a:srgbClr val="33404F"/>
                </a:solidFill>
              </a:rPr>
              <a:t>把 deepseek-harness 会话变成合规、可复现、可追责的投研交易台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8A94A0"/>
                </a:solidFill>
              </a:rPr>
              <a:t>多策略 AI 基金回测 · 风控合规门禁 · 定时盯盘 · 投资记忆复盘</a:t>
            </a:r>
          </a:p>
        </p:txBody>
      </p:sp>
      <p:sp>
        <p:nvSpPr>
          <p:cNvPr id="7" name="Rectangle 6"/>
          <p:cNvSpPr/>
          <p:nvPr/>
        </p:nvSpPr>
        <p:spPr>
          <a:xfrm>
            <a:off x="812800" y="6172200"/>
            <a:ext cx="105664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6324600"/>
            <a:ext cx="10566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github.com/JingHao-Leon/dsh-alpha-desk · MIT License · 2026-08 · 仅供学习研究，不构成投资建议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通用 Agent 做投研，缺的不是对话能力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600200"/>
            <a:ext cx="5588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748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33B"/>
                </a:solidFill>
              </a:rPr>
              <a:t>可复现的引擎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05000"/>
            <a:ext cx="889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04F"/>
                </a:solidFill>
              </a:rPr>
              <a:t>结论必须来自真实数据与真实计算，而不是模型即兴生成——没有引擎，所有"研报"都无法复核、无法追责。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200" y="24892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1200" y="2717800"/>
            <a:ext cx="5588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6924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33B"/>
                </a:solidFill>
              </a:rPr>
              <a:t>合规边界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22600"/>
            <a:ext cx="889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04F"/>
                </a:solidFill>
              </a:rPr>
              <a:t>Agent 的权限越来越大，"永远不碰真钱"必须是架构级保证——写在提示词里的约束，模型随时可以绕过。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1200" y="36068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3835400"/>
            <a:ext cx="5588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8100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33B"/>
                </a:solidFill>
              </a:rPr>
              <a:t>持续性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140200"/>
            <a:ext cx="889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04F"/>
                </a:solidFill>
              </a:rPr>
              <a:t>投资观点要被记录、被定时检验、被事后追责——一次性问答不构成研究，没有台账就没有复盘。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1200" y="4724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200" y="4953000"/>
            <a:ext cx="5588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C2410C"/>
                </a:solidFill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927600"/>
            <a:ext cx="2794000" cy="304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17233B"/>
                </a:solidFill>
              </a:rPr>
              <a:t>多市场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257800"/>
            <a:ext cx="889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0">
                <a:solidFill>
                  <a:srgbClr val="33404F"/>
                </a:solidFill>
              </a:rPr>
              <a:t>美股、A股、港股各有数据源与交易逻辑——单一引擎覆盖不了，需要的是可组合的编排层。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1200" y="58420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200" y="6070600"/>
            <a:ext cx="10769600" cy="330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C5B43"/>
                </a:solidFill>
              </a:rPr>
              <a:t>Alpha Desk 的解法：用 deepseek-harness 的四个扩展点，一一补上这四块短板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方案总览：skill 编排引擎，hook 守住底线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70200" y="1625600"/>
            <a:ext cx="177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C5B4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70200" y="1625600"/>
            <a:ext cx="177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7233B"/>
                </a:solidFill>
              </a:rPr>
              <a:t>SKILL.md</a:t>
            </a:r>
          </a:p>
          <a:p>
            <a:pPr algn="ctr"/>
            <a:r>
              <a:rPr sz="1000" b="0" i="0">
                <a:solidFill>
                  <a:srgbClr val="8A94A0"/>
                </a:solidFill>
              </a:rPr>
              <a:t>本仓库 · 投研工作流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59200" y="2235200"/>
            <a:ext cx="0" cy="622300"/>
          </a:xfrm>
          <a:prstGeom prst="line">
            <a:avLst/>
          </a:prstGeom>
          <a:ln w="12700">
            <a:solidFill>
              <a:srgbClr val="0C5B43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86200" y="2387600"/>
            <a:ext cx="1143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C5B43"/>
                </a:solidFill>
              </a:rPr>
              <a:t>inject 注入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0000" y="1625600"/>
            <a:ext cx="177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8A94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1625600"/>
            <a:ext cx="177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7233B"/>
                </a:solidFill>
              </a:rPr>
              <a:t>Financial Datasets</a:t>
            </a:r>
          </a:p>
          <a:p>
            <a:pPr algn="ctr"/>
            <a:r>
              <a:rPr sz="1000" b="0" i="0">
                <a:solidFill>
                  <a:srgbClr val="8A94A0"/>
                </a:solidFill>
              </a:rPr>
              <a:t>外部数据源 · 美股为主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239000" y="2235200"/>
            <a:ext cx="0" cy="622300"/>
          </a:xfrm>
          <a:prstGeom prst="line">
            <a:avLst/>
          </a:prstGeom>
          <a:ln w="12700">
            <a:solidFill>
              <a:srgbClr val="8A94A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11200" y="2857500"/>
            <a:ext cx="1397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1200" y="2857500"/>
            <a:ext cx="1397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7233B"/>
                </a:solidFill>
              </a:rPr>
              <a:t>用户</a:t>
            </a:r>
          </a:p>
          <a:p>
            <a:pPr algn="ctr"/>
            <a:r>
              <a:rPr sz="1000" b="0" i="0">
                <a:solidFill>
                  <a:srgbClr val="8A94A0"/>
                </a:solidFill>
              </a:rPr>
              <a:t>自然语言指令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08200" y="3213100"/>
            <a:ext cx="762000" cy="0"/>
          </a:xfrm>
          <a:prstGeom prst="line">
            <a:avLst/>
          </a:prstGeom>
          <a:ln w="19050">
            <a:solidFill>
              <a:srgbClr val="33404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2870200" y="2857500"/>
            <a:ext cx="1778000" cy="711200"/>
          </a:xfrm>
          <a:prstGeom prst="rect">
            <a:avLst/>
          </a:prstGeom>
          <a:solidFill>
            <a:srgbClr val="F3F5F2"/>
          </a:solidFill>
          <a:ln w="19050">
            <a:solidFill>
              <a:srgbClr val="1723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70200" y="2857500"/>
            <a:ext cx="1778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7233B"/>
                </a:solidFill>
              </a:rPr>
              <a:t>dsh Agent</a:t>
            </a:r>
          </a:p>
          <a:p>
            <a:pPr algn="ctr"/>
            <a:r>
              <a:rPr sz="1000" b="0" i="0">
                <a:solidFill>
                  <a:srgbClr val="8A94A0"/>
                </a:solidFill>
              </a:rPr>
              <a:t>deepseek-harness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48200" y="3213100"/>
            <a:ext cx="685800" cy="0"/>
          </a:xfrm>
          <a:prstGeom prst="line">
            <a:avLst/>
          </a:prstGeom>
          <a:ln w="19050">
            <a:solidFill>
              <a:srgbClr val="33404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0" y="2971800"/>
            <a:ext cx="889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0"/>
                </a:solidFill>
              </a:rPr>
              <a:t>工具调用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34000" y="2705100"/>
            <a:ext cx="254000" cy="101600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45000" y="2438400"/>
            <a:ext cx="22860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B42318"/>
                </a:solidFill>
              </a:rPr>
              <a:t>risk-gate · tools/pre-execute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588000" y="3213100"/>
            <a:ext cx="762000" cy="0"/>
          </a:xfrm>
          <a:prstGeom prst="line">
            <a:avLst/>
          </a:prstGeom>
          <a:ln w="19050">
            <a:solidFill>
              <a:srgbClr val="33404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318000" y="3835400"/>
            <a:ext cx="22860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0" i="0">
                <a:solidFill>
                  <a:srgbClr val="B42318"/>
                </a:solidFill>
              </a:rPr>
              <a:t>实盘下单 / 券商 API / 凭证 → deny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0" y="2857500"/>
            <a:ext cx="1778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0000" y="2857500"/>
            <a:ext cx="1778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7233B"/>
                </a:solidFill>
              </a:rPr>
              <a:t>aihf CLI</a:t>
            </a:r>
          </a:p>
          <a:p>
            <a:pPr algn="ctr"/>
            <a:r>
              <a:rPr sz="1000" b="0" i="0">
                <a:solidFill>
                  <a:srgbClr val="8A94A0"/>
                </a:solidFill>
              </a:rPr>
              <a:t>ai-hedge-fund 引擎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128000" y="3213100"/>
            <a:ext cx="762000" cy="0"/>
          </a:xfrm>
          <a:prstGeom prst="line">
            <a:avLst/>
          </a:prstGeom>
          <a:ln w="19050">
            <a:solidFill>
              <a:srgbClr val="33404F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026400" y="2971800"/>
            <a:ext cx="762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0"/>
                </a:solidFill>
              </a:rPr>
              <a:t>纯 JSON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90000" y="2857500"/>
            <a:ext cx="1905000" cy="711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90000" y="2857500"/>
            <a:ext cx="1905000" cy="71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7233B"/>
                </a:solidFill>
              </a:rPr>
              <a:t>records/*.json</a:t>
            </a:r>
          </a:p>
          <a:p>
            <a:pPr algn="ctr"/>
            <a:r>
              <a:rPr sz="1000" b="0" i="0">
                <a:solidFill>
                  <a:srgbClr val="8A94A0"/>
                </a:solidFill>
              </a:rPr>
              <a:t>落盘 · 可复核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70200" y="4445000"/>
            <a:ext cx="177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C5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70200" y="4445000"/>
            <a:ext cx="177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7233B"/>
                </a:solidFill>
              </a:rPr>
              <a:t>cron 定时任务</a:t>
            </a:r>
          </a:p>
          <a:p>
            <a:pPr algn="ctr"/>
            <a:r>
              <a:rPr sz="1000" b="0" i="0">
                <a:solidFill>
                  <a:srgbClr val="8A94A0"/>
                </a:solidFill>
              </a:rPr>
              <a:t>盘前扫描 / 周末复盘</a:t>
            </a:r>
          </a:p>
        </p:txBody>
      </p:sp>
      <p:cxnSp>
        <p:nvCxnSpPr>
          <p:cNvPr id="31" name="Connector 30"/>
          <p:cNvCxnSpPr/>
          <p:nvPr/>
        </p:nvCxnSpPr>
        <p:spPr>
          <a:xfrm flipV="1">
            <a:off x="3759200" y="3568700"/>
            <a:ext cx="0" cy="876300"/>
          </a:xfrm>
          <a:prstGeom prst="line">
            <a:avLst/>
          </a:prstGeom>
          <a:ln w="12700">
            <a:solidFill>
              <a:srgbClr val="0C5B43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717800" y="3886200"/>
            <a:ext cx="9906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000" b="0" i="0">
                <a:solidFill>
                  <a:srgbClr val="0C5B43"/>
                </a:solidFill>
              </a:rPr>
              <a:t>定时 followup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12000" y="4445000"/>
            <a:ext cx="1778000" cy="609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C5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12000" y="4445000"/>
            <a:ext cx="1778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17233B"/>
                </a:solidFill>
              </a:rPr>
              <a:t>memory 台账</a:t>
            </a:r>
          </a:p>
          <a:p>
            <a:pPr algn="ctr"/>
            <a:r>
              <a:rPr sz="1000" b="0" i="0">
                <a:solidFill>
                  <a:srgbClr val="8A94A0"/>
                </a:solidFill>
              </a:rPr>
              <a:t>投资假设 · 到期追责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842500" y="3568700"/>
            <a:ext cx="0" cy="584200"/>
          </a:xfrm>
          <a:prstGeom prst="line">
            <a:avLst/>
          </a:prstGeom>
          <a:ln w="12700">
            <a:solidFill>
              <a:srgbClr val="0C5B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8890000" y="4152900"/>
            <a:ext cx="952500" cy="596900"/>
          </a:xfrm>
          <a:prstGeom prst="line">
            <a:avLst/>
          </a:prstGeom>
          <a:ln w="12700">
            <a:solidFill>
              <a:srgbClr val="0C5B43"/>
            </a:solidFill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966200" y="4013200"/>
            <a:ext cx="1016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0C5B43"/>
                </a:solidFill>
              </a:rPr>
              <a:t>复盘对照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11200" y="55880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200" y="5765800"/>
            <a:ext cx="7874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实线 = 数据/控制流 · 虚线 = 注入与外部依赖 · 红色 = 风控拦截点（分发前单调拒绝）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200" y="6121400"/>
            <a:ext cx="10769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C5B43"/>
                </a:solidFill>
              </a:rPr>
              <a:t>全部能力挂在 dsh 公开扩展点上——没有一行代码修改 Agent 执行循环。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MECHANISM 1 ·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基金即数据：一个 YAML 定义整张交易台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600200"/>
            <a:ext cx="48260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300" b="1" i="0">
                <a:solidFill>
                  <a:srgbClr val="33404F"/>
                </a:solidFill>
              </a:rPr>
              <a:t>mandate（基金委托书）</a:t>
            </a:r>
            <a:r>
              <a:rPr sz="1300" b="0" i="0">
                <a:solidFill>
                  <a:srgbClr val="33404F"/>
                </a:solidFill>
              </a:rPr>
              <a:t>把交易台写成声明式配置：</a:t>
            </a:r>
          </a:p>
          <a:p>
            <a:pPr algn="l">
              <a:lnSpc>
                <a:spcPct val="165000"/>
              </a:lnSpc>
              <a:spcBef>
                <a:spcPts val="800"/>
              </a:spcBef>
            </a:pPr>
            <a:r>
              <a:rPr sz="1300" b="0" i="0">
                <a:solidFill>
                  <a:srgbClr val="33404F"/>
                </a:solidFill>
              </a:rPr>
              <a:t>· 策略 pod 与资金权重（价值 70% + 量化 30%）</a:t>
            </a:r>
          </a:p>
          <a:p>
            <a:pPr algn="l">
              <a:lnSpc>
                <a:spcPct val="165000"/>
              </a:lnSpc>
            </a:pPr>
            <a:r>
              <a:rPr sz="1300" b="0" i="0">
                <a:solidFill>
                  <a:srgbClr val="33404F"/>
                </a:solidFill>
              </a:rPr>
              <a:t>· 大师 alpha 模型：格雷厄姆 / 巴菲特 / 芒格 / 林奇 / 德鲁肯米勒</a:t>
            </a:r>
          </a:p>
          <a:p>
            <a:pPr algn="l">
              <a:lnSpc>
                <a:spcPct val="165000"/>
              </a:lnSpc>
            </a:pPr>
            <a:r>
              <a:rPr sz="1300" b="0" i="0">
                <a:solidFill>
                  <a:srgbClr val="33404F"/>
                </a:solidFill>
              </a:rPr>
              <a:t>· 风控限额：单票 ≤25%、不加杠杆</a:t>
            </a:r>
          </a:p>
          <a:p>
            <a:pPr algn="l">
              <a:lnSpc>
                <a:spcPct val="165000"/>
              </a:lnSpc>
            </a:pPr>
            <a:r>
              <a:rPr sz="1300" b="0" i="0">
                <a:solidFill>
                  <a:srgbClr val="33404F"/>
                </a:solidFill>
              </a:rPr>
              <a:t>· 再平衡频率与业绩基准</a:t>
            </a:r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sz="1300" b="0" i="0">
                <a:solidFill>
                  <a:srgbClr val="33404F"/>
                </a:solidFill>
              </a:rPr>
              <a:t>标的不写进 mandate——</a:t>
            </a:r>
            <a:r>
              <a:rPr sz="1300" b="1" i="0">
                <a:solidFill>
                  <a:srgbClr val="C2410C"/>
                </a:solidFill>
              </a:rPr>
              <a:t>--tickers 运行时注入</a:t>
            </a:r>
            <a:r>
              <a:rPr sz="1300" b="0" i="0">
                <a:solidFill>
                  <a:srgbClr val="33404F"/>
                </a:solidFill>
              </a:rPr>
              <a:t>，同一交易台可指向任意股票池。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200" y="4978400"/>
            <a:ext cx="48260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1200" y="5156200"/>
            <a:ext cx="4826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i="0">
                <a:solidFill>
                  <a:srgbClr val="33404F"/>
                </a:solidFill>
              </a:rPr>
              <a:t>推理 LLM 可换：</a:t>
            </a:r>
            <a:r>
              <a:rPr sz="1200" b="0" i="0">
                <a:solidFill>
                  <a:srgbClr val="33404F"/>
                </a:solidFill>
              </a:rPr>
              <a:t>默认 Claude；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3404F"/>
                </a:solidFill>
              </a:rPr>
              <a:t>配 </a:t>
            </a:r>
            <a:r>
              <a:rPr sz="1100" b="0" i="0">
                <a:solidFill>
                  <a:srgbClr val="33404F"/>
                </a:solidFill>
                <a:latin typeface="JetBrains Mono"/>
                <a:ea typeface="JetBrains Mono"/>
              </a:rPr>
              <a:t>DEEPSEEK_API_KEY</a:t>
            </a:r>
            <a:r>
              <a:rPr sz="1200" b="0" i="0">
                <a:solidFill>
                  <a:srgbClr val="33404F"/>
                </a:solidFill>
              </a:rPr>
              <a:t> 后加 </a:t>
            </a:r>
            <a:r>
              <a:rPr sz="1100" b="0" i="0">
                <a:solidFill>
                  <a:srgbClr val="0C5B43"/>
                </a:solidFill>
                <a:latin typeface="JetBrains Mono"/>
                <a:ea typeface="JetBrains Mono"/>
              </a:rPr>
              <a:t>--model deepseek-v4-pro</a:t>
            </a:r>
            <a:r>
              <a:rPr sz="1200" b="0" i="0">
                <a:solidFill>
                  <a:srgbClr val="33404F"/>
                </a:solidFill>
              </a:rPr>
              <a:t>，即"DeepSeek 模型 × DeepSeek harness"全栈同栈。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892800" y="1600200"/>
            <a:ext cx="5588000" cy="4191000"/>
          </a:xfrm>
          <a:prstGeom prst="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1400" y="17526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0"/>
                </a:solidFill>
                <a:latin typeface="JetBrains Mono"/>
                <a:ea typeface="JetBrains Mono"/>
              </a:rPr>
              <a:t>mandates/deep-value-weekly.yaml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1400" y="2032000"/>
            <a:ext cx="5130800" cy="3632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name: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deep-value-weekly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strategies: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- </a:t>
            </a: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name: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deep-value       </a:t>
            </a:r>
            <a:r>
              <a:rPr sz="1050" b="0" i="0">
                <a:solidFill>
                  <a:srgbClr val="8A94A0"/>
                </a:solidFill>
                <a:latin typeface="JetBrains Mono"/>
                <a:ea typeface="JetBrains Mono"/>
              </a:rPr>
              <a:t># 价值 pod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weight: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0.7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models: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    - {</a:t>
            </a: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name: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graham, </a:t>
            </a: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weight: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2.0}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    - {</a:t>
            </a: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name: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buffett}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    - {</a:t>
            </a: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name: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munger}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- </a:t>
            </a: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name: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earnings-drift  </a:t>
            </a:r>
            <a:r>
              <a:rPr sz="1050" b="0" i="0">
                <a:solidFill>
                  <a:srgbClr val="8A94A0"/>
                </a:solidFill>
                <a:latin typeface="JetBrains Mono"/>
                <a:ea typeface="JetBrains Mono"/>
              </a:rPr>
              <a:t># 量化 pod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weight: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0.3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models: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[{</a:t>
            </a: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name: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pead}]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risk: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max_position_pct: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0.25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max_gross_exposure: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1.0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capital: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100000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rebalance: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weekly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benchmark: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SPY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6350000"/>
            <a:ext cx="889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引擎：</a:t>
            </a:r>
            <a:r>
              <a:rPr sz="1100" b="0" i="0">
                <a:solidFill>
                  <a:srgbClr val="8A94A0"/>
                </a:solidFill>
                <a:hlinkClick r:id="rId2"/>
              </a:rPr>
              <a:t>virattt/ai-hedge-fund</a:t>
            </a:r>
            <a:r>
              <a:rPr sz="1100" b="0" i="0">
                <a:solidFill>
                  <a:srgbClr val="8A94A0"/>
                </a:solidFill>
              </a:rPr>
              <a:t>（MIT）· 仓库另附多空市场中性、宏观拐点两份 mandate，开箱即用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MECHANISM 2 ·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risk-gate：合规是架构保证，不是提示词约定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600200"/>
            <a:ext cx="4953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300" b="0" i="0">
                <a:solidFill>
                  <a:srgbClr val="33404F"/>
                </a:solidFill>
              </a:rPr>
              <a:t>挂在 dsh 的 </a:t>
            </a:r>
            <a:r>
              <a:rPr sz="1150" b="0" i="0">
                <a:solidFill>
                  <a:srgbClr val="0C5B43"/>
                </a:solidFill>
                <a:latin typeface="JetBrains Mono"/>
                <a:ea typeface="JetBrains Mono"/>
              </a:rPr>
              <a:t>tools/pre-execute</a:t>
            </a:r>
            <a:r>
              <a:rPr sz="1300" b="0" i="0">
                <a:solidFill>
                  <a:srgbClr val="33404F"/>
                </a:solidFill>
              </a:rPr>
              <a:t> waterfall 上：每一次工具调用</a:t>
            </a:r>
            <a:r>
              <a:rPr sz="1300" b="1" i="0">
                <a:solidFill>
                  <a:srgbClr val="33404F"/>
                </a:solidFill>
              </a:rPr>
              <a:t>进入分发前</a:t>
            </a:r>
            <a:r>
              <a:rPr sz="1300" b="0" i="0">
                <a:solidFill>
                  <a:srgbClr val="33404F"/>
                </a:solidFill>
              </a:rPr>
              <a:t>，先过门禁。</a:t>
            </a:r>
          </a:p>
          <a:p>
            <a:pPr algn="l">
              <a:lnSpc>
                <a:spcPct val="165000"/>
              </a:lnSpc>
              <a:spcBef>
                <a:spcPts val="1000"/>
              </a:spcBef>
            </a:pPr>
            <a:r>
              <a:rPr sz="1300" b="1" i="0">
                <a:solidFill>
                  <a:srgbClr val="33404F"/>
                </a:solidFill>
              </a:rPr>
              <a:t>命中即单调拒绝（deny）：</a:t>
            </a:r>
          </a:p>
          <a:p>
            <a:pPr algn="l">
              <a:lnSpc>
                <a:spcPct val="165000"/>
              </a:lnSpc>
            </a:pPr>
            <a:r>
              <a:rPr sz="1300" b="0" i="0">
                <a:solidFill>
                  <a:srgbClr val="33404F"/>
                </a:solidFill>
              </a:rPr>
              <a:t>· 券商 CLI / API：IBKR、Alpaca、富途、老虎…</a:t>
            </a:r>
          </a:p>
          <a:p>
            <a:pPr algn="l">
              <a:lnSpc>
                <a:spcPct val="165000"/>
              </a:lnSpc>
            </a:pPr>
            <a:r>
              <a:rPr sz="1300" b="0" i="0">
                <a:solidFill>
                  <a:srgbClr val="33404F"/>
                </a:solidFill>
              </a:rPr>
              <a:t>· 下单动词：place-order / submit-order…</a:t>
            </a:r>
          </a:p>
          <a:p>
            <a:pPr algn="l">
              <a:lnSpc>
                <a:spcPct val="165000"/>
              </a:lnSpc>
            </a:pPr>
            <a:r>
              <a:rPr sz="1300" b="0" i="0">
                <a:solidFill>
                  <a:srgbClr val="33404F"/>
                </a:solidFill>
              </a:rPr>
              <a:t>· 凭证文件：</a:t>
            </a:r>
            <a:r>
              <a:rPr sz="1100" b="0" i="0">
                <a:solidFill>
                  <a:srgbClr val="33404F"/>
                </a:solidFill>
                <a:latin typeface="JetBrains Mono"/>
                <a:ea typeface="JetBrains Mono"/>
              </a:rPr>
              <a:t>~/.hedge-fund/.env</a:t>
            </a:r>
          </a:p>
          <a:p>
            <a:pPr algn="l">
              <a:lnSpc>
                <a:spcPct val="165000"/>
              </a:lnSpc>
            </a:pPr>
            <a:r>
              <a:rPr sz="1300" b="0" i="0">
                <a:solidFill>
                  <a:srgbClr val="33404F"/>
                </a:solidFill>
              </a:rPr>
              <a:t>· 实盘开关：</a:t>
            </a:r>
            <a:r>
              <a:rPr sz="1100" b="0" i="0">
                <a:solidFill>
                  <a:srgbClr val="33404F"/>
                </a:solidFill>
                <a:latin typeface="JetBrains Mono"/>
                <a:ea typeface="JetBrains Mono"/>
              </a:rPr>
              <a:t>--live</a:t>
            </a:r>
            <a:r>
              <a:rPr sz="1300" b="0" i="0">
                <a:solidFill>
                  <a:srgbClr val="33404F"/>
                </a:solidFill>
              </a:rPr>
              <a:t> 类参数</a:t>
            </a:r>
          </a:p>
        </p:txBody>
      </p:sp>
      <p:sp>
        <p:nvSpPr>
          <p:cNvPr id="6" name="Rectangle 5"/>
          <p:cNvSpPr/>
          <p:nvPr/>
        </p:nvSpPr>
        <p:spPr>
          <a:xfrm>
            <a:off x="711200" y="4521200"/>
            <a:ext cx="49530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1200" y="4724400"/>
            <a:ext cx="4953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1" i="0">
                <a:solidFill>
                  <a:srgbClr val="33404F"/>
                </a:solidFill>
              </a:rPr>
              <a:t>放行：</a:t>
            </a:r>
            <a:r>
              <a:rPr sz="1200" b="0" i="0">
                <a:solidFill>
                  <a:srgbClr val="33404F"/>
                </a:solidFill>
              </a:rPr>
              <a:t>aihf 全部只读 / 回测用法、数据查询、报告生成——投研流量零误伤。</a:t>
            </a: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sz="1200" b="1" i="0">
                <a:solidFill>
                  <a:srgbClr val="B42318"/>
                </a:solidFill>
              </a:rPr>
              <a:t>即使模型被注入、被诱导、被越狱，实盘命令也到不了执行器。</a:t>
            </a:r>
            <a:r>
              <a:rPr sz="1200" b="0" i="0">
                <a:solidFill>
                  <a:srgbClr val="33404F"/>
                </a:solidFill>
              </a:rPr>
              <a:t>这是微内核 waterfall 的类型化决策，不依赖模型自觉。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019800" y="1600200"/>
            <a:ext cx="5461000" cy="3810000"/>
          </a:xfrm>
          <a:prstGeom prst="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48400" y="1752600"/>
            <a:ext cx="4826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0"/>
                </a:solidFill>
                <a:latin typeface="JetBrains Mono"/>
                <a:ea typeface="JetBrains Mono"/>
              </a:rPr>
              <a:t>plugins/risk-gate/index.ts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48400" y="2032000"/>
            <a:ext cx="5029200" cy="325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export const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name = </a:t>
            </a:r>
            <a:r>
              <a:rPr sz="1050" b="0" i="0">
                <a:solidFill>
                  <a:srgbClr val="C2410C"/>
                </a:solidFill>
                <a:latin typeface="JetBrains Mono"/>
                <a:ea typeface="JetBrains Mono"/>
              </a:rPr>
              <a:t>'alpha-desk-risk-gate'</a:t>
            </a:r>
          </a:p>
          <a:p>
            <a:pPr algn="l">
              <a:lnSpc>
                <a:spcPct val="155000"/>
              </a:lnSpc>
            </a:pP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export function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apply(ctx: Context) {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ctx.on(</a:t>
            </a:r>
            <a:r>
              <a:rPr sz="1050" b="0" i="0">
                <a:solidFill>
                  <a:srgbClr val="C2410C"/>
                </a:solidFill>
                <a:latin typeface="JetBrains Mono"/>
                <a:ea typeface="JetBrains Mono"/>
              </a:rPr>
              <a:t>'tools/pre-execute'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,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async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(exec, next): Promise&lt;PreToolDecision&gt; =&gt; {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const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text = inspectableText(exec)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for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(</a:t>
            </a: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const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{ pattern, label } </a:t>
            </a: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of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DENY_PATTERNS) {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if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(pattern.test(text)) {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return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{ kind: </a:t>
            </a:r>
            <a:r>
              <a:rPr sz="1050" b="0" i="0">
                <a:solidFill>
                  <a:srgbClr val="C2410C"/>
                </a:solidFill>
                <a:latin typeface="JetBrains Mono"/>
                <a:ea typeface="JetBrains Mono"/>
              </a:rPr>
              <a:t>'deny'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,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          reason: </a:t>
            </a:r>
            <a:r>
              <a:rPr sz="1050" b="0" i="0">
                <a:solidFill>
                  <a:srgbClr val="C2410C"/>
                </a:solidFill>
                <a:latin typeface="JetBrains Mono"/>
                <a:ea typeface="JetBrains Mono"/>
              </a:rPr>
              <a:t>`risk-gate: blocked ${label}…`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}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      }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    }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0C5B43"/>
                </a:solidFill>
                <a:latin typeface="JetBrains Mono"/>
                <a:ea typeface="JetBrains Mono"/>
              </a:rPr>
              <a:t>return</a:t>
            </a: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next()  </a:t>
            </a:r>
            <a:r>
              <a:rPr sz="1050" b="0" i="0">
                <a:solidFill>
                  <a:srgbClr val="8A94A0"/>
                </a:solidFill>
                <a:latin typeface="JetBrains Mono"/>
                <a:ea typeface="JetBrains Mono"/>
              </a:rPr>
              <a:t>// 投研流量放行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    })</a:t>
            </a:r>
          </a:p>
          <a:p>
            <a:pPr algn="l">
              <a:lnSpc>
                <a:spcPct val="155000"/>
              </a:lnSpc>
            </a:pPr>
            <a:r>
              <a:rPr sz="1050" b="0" i="0">
                <a:solidFill>
                  <a:srgbClr val="33404F"/>
                </a:solidFill>
                <a:latin typeface="JetBrains Mono"/>
                <a:ea typeface="JetBrains Mono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800" y="5537200"/>
            <a:ext cx="5461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完整实现见仓库 plugins/risk-gate/，含中英文拒绝原因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200" y="63500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机制出处：dsh 官方文档 </a:t>
            </a:r>
            <a:r>
              <a:rPr sz="1100" b="0" i="0">
                <a:solidFill>
                  <a:srgbClr val="8A94A0"/>
                </a:solidFill>
                <a:hlinkClick r:id="rId2"/>
              </a:rPr>
              <a:t>extension-cookbook</a:t>
            </a:r>
            <a:r>
              <a:rPr sz="1100" b="0" i="0">
                <a:solidFill>
                  <a:srgbClr val="8A94A0"/>
                </a:solidFill>
              </a:rPr>
              <a:t> 的权限门禁范例 · deny 在分发前生效，不产生任何副作用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MECHANISM 3 · CRON + MEMORY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持续投研：观点入册、定时检验、到期追责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Pentagon 4"/>
          <p:cNvSpPr/>
          <p:nvPr/>
        </p:nvSpPr>
        <p:spPr>
          <a:xfrm>
            <a:off x="711200" y="1778000"/>
            <a:ext cx="2489200" cy="812800"/>
          </a:xfrm>
          <a:prstGeom prst="homePlate">
            <a:avLst/>
          </a:prstGeom>
          <a:solidFill>
            <a:srgbClr val="0C5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8200" y="1778000"/>
            <a:ext cx="21590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盘前扫描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cron 定时触发，无人值守</a:t>
            </a:r>
          </a:p>
        </p:txBody>
      </p:sp>
      <p:sp>
        <p:nvSpPr>
          <p:cNvPr id="7" name="Pentagon 6"/>
          <p:cNvSpPr/>
          <p:nvPr/>
        </p:nvSpPr>
        <p:spPr>
          <a:xfrm>
            <a:off x="3403600" y="1778000"/>
            <a:ext cx="2489200" cy="812800"/>
          </a:xfrm>
          <a:prstGeom prst="homePlate">
            <a:avLst/>
          </a:prstGeom>
          <a:solidFill>
            <a:srgbClr val="C1D9D1"/>
          </a:solidFill>
          <a:ln w="12700">
            <a:solidFill>
              <a:srgbClr val="0C5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78000"/>
            <a:ext cx="21082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7233B"/>
                </a:solidFill>
              </a:rPr>
              <a:t>② 信号解读</a:t>
            </a:r>
          </a:p>
          <a:p>
            <a:pPr algn="l"/>
            <a:r>
              <a:rPr sz="1000" b="0" i="0">
                <a:solidFill>
                  <a:srgbClr val="8A94A0"/>
                </a:solidFill>
              </a:rPr>
              <a:t>aihf 真实计算，附大师理由</a:t>
            </a:r>
          </a:p>
        </p:txBody>
      </p:sp>
      <p:sp>
        <p:nvSpPr>
          <p:cNvPr id="9" name="Pentagon 8"/>
          <p:cNvSpPr/>
          <p:nvPr/>
        </p:nvSpPr>
        <p:spPr>
          <a:xfrm>
            <a:off x="6096000" y="1778000"/>
            <a:ext cx="2489200" cy="812800"/>
          </a:xfrm>
          <a:prstGeom prst="homePlate">
            <a:avLst/>
          </a:prstGeom>
          <a:solidFill>
            <a:srgbClr val="C1D9D1"/>
          </a:solidFill>
          <a:ln w="12700">
            <a:solidFill>
              <a:srgbClr val="0C5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0000" y="1778000"/>
            <a:ext cx="21082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17233B"/>
                </a:solidFill>
              </a:rPr>
              <a:t>③ 假设入册</a:t>
            </a:r>
          </a:p>
          <a:p>
            <a:pPr algn="l"/>
            <a:r>
              <a:rPr sz="1000" b="0" i="0">
                <a:solidFill>
                  <a:srgbClr val="8A94A0"/>
                </a:solidFill>
              </a:rPr>
              <a:t>memory 台账：方向/理由/失效条件</a:t>
            </a:r>
          </a:p>
        </p:txBody>
      </p:sp>
      <p:sp>
        <p:nvSpPr>
          <p:cNvPr id="11" name="Pentagon 10"/>
          <p:cNvSpPr/>
          <p:nvPr/>
        </p:nvSpPr>
        <p:spPr>
          <a:xfrm>
            <a:off x="8788400" y="1778000"/>
            <a:ext cx="2489200" cy="812800"/>
          </a:xfrm>
          <a:prstGeom prst="homePlate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2400" y="1778000"/>
            <a:ext cx="2108200" cy="812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到期复盘</a:t>
            </a:r>
          </a:p>
          <a:p>
            <a:pPr algn="l"/>
            <a:r>
              <a:rPr sz="1000" b="0" i="0">
                <a:solidFill>
                  <a:srgbClr val="FFFFFF"/>
                </a:solidFill>
              </a:rPr>
              <a:t>对照 records 逐条判对错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083800" y="2590800"/>
            <a:ext cx="0" cy="215900"/>
          </a:xfrm>
          <a:prstGeom prst="line">
            <a:avLst/>
          </a:prstGeom>
          <a:ln w="12700">
            <a:solidFill>
              <a:srgbClr val="8A94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955800" y="2806700"/>
            <a:ext cx="8128000" cy="0"/>
          </a:xfrm>
          <a:prstGeom prst="line">
            <a:avLst/>
          </a:prstGeom>
          <a:ln w="12700">
            <a:solidFill>
              <a:srgbClr val="8A94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955800" y="2806700"/>
            <a:ext cx="0" cy="215900"/>
          </a:xfrm>
          <a:prstGeom prst="line">
            <a:avLst/>
          </a:prstGeom>
          <a:ln w="12700">
            <a:solidFill>
              <a:srgbClr val="8A94A0"/>
            </a:solidFill>
            <a:prstDash val="dash"/>
            <a:tailEnd type="arrow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26000" y="2667000"/>
            <a:ext cx="2540000" cy="177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8A94A0"/>
                </a:solidFill>
              </a:rPr>
              <a:t>复盘结论回流，修正下一轮假设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200" y="3403600"/>
            <a:ext cx="635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33B"/>
                </a:solidFill>
              </a:rPr>
              <a:t>投资假设台账（memory 中每条假设的字段）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711200" y="3784600"/>
          <a:ext cx="10769600" cy="139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2352"/>
                <a:gridCol w="1507744"/>
                <a:gridCol w="3661664"/>
                <a:gridCol w="2369312"/>
                <a:gridCol w="1938528"/>
              </a:tblGrid>
              <a:tr h="58674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标的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方向与强度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理由（来自引擎 reasoning）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失效条件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到期判定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810260"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8A94A0"/>
                          </a:solidFill>
                        </a:rPr>
                        <a:t>字段示意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8A94A0"/>
                          </a:solidFill>
                        </a:rPr>
                        <a:t>字段示意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8A94A0"/>
                          </a:solidFill>
                        </a:rPr>
                        <a:t>字段示意：记录模型原文要点，便于复核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8A94A0"/>
                          </a:solidFill>
                        </a:rPr>
                        <a:t>字段示意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0" i="0">
                          <a:solidFill>
                            <a:srgbClr val="8A94A0"/>
                          </a:solidFill>
                        </a:rPr>
                        <a:t>对 / 错 / 部分成立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11200" y="5689600"/>
            <a:ext cx="107696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3404F"/>
                </a:solidFill>
              </a:rPr>
              <a:t>这是一次性问答和"工作台"的分水岭：</a:t>
            </a:r>
            <a:r>
              <a:rPr sz="1300" b="1" i="0">
                <a:solidFill>
                  <a:srgbClr val="0C5B43"/>
                </a:solidFill>
              </a:rPr>
              <a:t>每个观点都留下凭据，每个凭据都被检验</a:t>
            </a:r>
            <a:r>
              <a:rPr sz="1300" b="0" i="0">
                <a:solidFill>
                  <a:srgbClr val="33404F"/>
                </a:solidFill>
              </a:rPr>
              <a:t>——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3404F"/>
                </a:solidFill>
              </a:rPr>
              <a:t>哪类假设胜率高、哪个模型在什么市况下靠谱，数据自己会说话。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LIVE ON DSH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已跑通：skill 注入 dsh，引擎实测就绪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574800"/>
            <a:ext cx="5080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33B"/>
                </a:solidFill>
              </a:rPr>
              <a:t>本机实测清单（2026-08-14）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1955800"/>
            <a:ext cx="53340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1" i="0">
                <a:solidFill>
                  <a:srgbClr val="0C5B43"/>
                </a:solidFill>
              </a:rPr>
              <a:t>✓</a:t>
            </a:r>
            <a:r>
              <a:rPr sz="1300" b="0" i="0">
                <a:solidFill>
                  <a:srgbClr val="33404F"/>
                </a:solidFill>
              </a:rPr>
              <a:t> 引擎就绪：</a:t>
            </a:r>
            <a:r>
              <a:rPr sz="1150" b="0" i="0">
                <a:solidFill>
                  <a:srgbClr val="33404F"/>
                </a:solidFill>
                <a:latin typeface="JetBrains Mono"/>
                <a:ea typeface="JetBrains Mono"/>
              </a:rPr>
              <a:t>aihf 2.2.0</a:t>
            </a:r>
            <a:r>
              <a:rPr sz="1300" b="0" i="0">
                <a:solidFill>
                  <a:srgbClr val="33404F"/>
                </a:solidFill>
              </a:rPr>
              <a:t>（pipx 隔离安装）</a:t>
            </a:r>
          </a:p>
          <a:p>
            <a:pPr algn="l">
              <a:lnSpc>
                <a:spcPct val="170000"/>
              </a:lnSpc>
            </a:pPr>
            <a:r>
              <a:rPr sz="1300" b="1" i="0">
                <a:solidFill>
                  <a:srgbClr val="0C5B43"/>
                </a:solidFill>
              </a:rPr>
              <a:t>✓</a:t>
            </a:r>
            <a:r>
              <a:rPr sz="1300" b="0" i="0">
                <a:solidFill>
                  <a:srgbClr val="33404F"/>
                </a:solidFill>
              </a:rPr>
              <a:t> 三份 mandate 全部通过解析校验</a:t>
            </a:r>
          </a:p>
          <a:p>
            <a:pPr algn="l">
              <a:lnSpc>
                <a:spcPct val="170000"/>
              </a:lnSpc>
            </a:pPr>
            <a:r>
              <a:rPr sz="1300" b="1" i="0">
                <a:solidFill>
                  <a:srgbClr val="0C5B43"/>
                </a:solidFill>
              </a:rPr>
              <a:t>✓</a:t>
            </a:r>
            <a:r>
              <a:rPr sz="1300" b="0" i="0">
                <a:solidFill>
                  <a:srgbClr val="33404F"/>
                </a:solidFill>
              </a:rPr>
              <a:t> 缺 key 时错误路径清晰，不静默失败</a:t>
            </a:r>
          </a:p>
          <a:p>
            <a:pPr algn="l">
              <a:lnSpc>
                <a:spcPct val="170000"/>
              </a:lnSpc>
            </a:pPr>
            <a:r>
              <a:rPr sz="1300" b="1" i="0">
                <a:solidFill>
                  <a:srgbClr val="0C5B43"/>
                </a:solidFill>
              </a:rPr>
              <a:t>✓</a:t>
            </a:r>
            <a:r>
              <a:rPr sz="1300" b="0" i="0">
                <a:solidFill>
                  <a:srgbClr val="33404F"/>
                </a:solidFill>
              </a:rPr>
              <a:t> dsh </a:t>
            </a:r>
            <a:r>
              <a:rPr sz="1150" b="0" i="0">
                <a:solidFill>
                  <a:srgbClr val="33404F"/>
                </a:solidFill>
                <a:latin typeface="JetBrains Mono"/>
                <a:ea typeface="JetBrains Mono"/>
              </a:rPr>
              <a:t>skill.list</a:t>
            </a:r>
            <a:r>
              <a:rPr sz="1300" b="0" i="0">
                <a:solidFill>
                  <a:srgbClr val="33404F"/>
                </a:solidFill>
              </a:rPr>
              <a:t> 已出现 </a:t>
            </a:r>
            <a:r>
              <a:rPr sz="1150" b="0" i="0">
                <a:solidFill>
                  <a:srgbClr val="0C5B43"/>
                </a:solidFill>
                <a:latin typeface="JetBrains Mono"/>
                <a:ea typeface="JetBrains Mono"/>
              </a:rPr>
              <a:t>alpha-desk</a:t>
            </a:r>
          </a:p>
          <a:p>
            <a:pPr algn="l">
              <a:lnSpc>
                <a:spcPct val="170000"/>
              </a:lnSpc>
            </a:pPr>
            <a:r>
              <a:rPr sz="1300" b="0" i="0">
                <a:solidFill>
                  <a:srgbClr val="33404F"/>
                </a:solidFill>
              </a:rPr>
              <a:t>　（</a:t>
            </a:r>
            <a:r>
              <a:rPr sz="1100" b="0" i="0">
                <a:solidFill>
                  <a:srgbClr val="33404F"/>
                </a:solidFill>
                <a:latin typeface="JetBrains Mono"/>
                <a:ea typeface="JetBrains Mono"/>
              </a:rPr>
              <a:t>modelInvocable: true</a:t>
            </a:r>
            <a:r>
              <a:rPr sz="1300" b="0" i="0">
                <a:solidFill>
                  <a:srgbClr val="33404F"/>
                </a:solidFill>
              </a:rPr>
              <a:t>，模型可自主调用）</a:t>
            </a:r>
          </a:p>
          <a:p>
            <a:pPr algn="l">
              <a:lnSpc>
                <a:spcPct val="170000"/>
              </a:lnSpc>
            </a:pPr>
            <a:r>
              <a:rPr sz="1300" b="1" i="0">
                <a:solidFill>
                  <a:srgbClr val="0C5B43"/>
                </a:solidFill>
              </a:rPr>
              <a:t>✓</a:t>
            </a:r>
            <a:r>
              <a:rPr sz="1300" b="0" i="0">
                <a:solidFill>
                  <a:srgbClr val="33404F"/>
                </a:solidFill>
              </a:rPr>
              <a:t> DeepSeek 推理切换验证：</a:t>
            </a:r>
            <a:r>
              <a:rPr sz="1100" b="0" i="0">
                <a:solidFill>
                  <a:srgbClr val="33404F"/>
                </a:solidFill>
                <a:latin typeface="JetBrains Mono"/>
                <a:ea typeface="JetBrains Mono"/>
              </a:rPr>
              <a:t>--model deepseek-v4-pro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5257800"/>
            <a:ext cx="53340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5435600"/>
            <a:ext cx="533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3404F"/>
                </a:solidFill>
              </a:rPr>
              <a:t>右图为 dsh Web 实操界面（本机 127.0.0.1:3080）：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3404F"/>
                </a:solidFill>
              </a:rPr>
              <a:t>skill 在会话内被注入、工具调用全程可视化——</a:t>
            </a:r>
          </a:p>
          <a:p>
            <a:pPr algn="l">
              <a:lnSpc>
                <a:spcPct val="160000"/>
              </a:lnSpc>
            </a:pPr>
            <a:r>
              <a:rPr sz="1200" b="0" i="0">
                <a:solidFill>
                  <a:srgbClr val="33404F"/>
                </a:solidFill>
              </a:rPr>
              <a:t>投研过程的每一步都可回放、可审计。</a:t>
            </a:r>
          </a:p>
        </p:txBody>
      </p:sp>
      <p:pic>
        <p:nvPicPr>
          <p:cNvPr id="9" name="Picture 8" descr="dsh-agent-running.png"/>
          <p:cNvPicPr>
            <a:picLocks noChangeAspect="1"/>
          </p:cNvPicPr>
          <p:nvPr/>
        </p:nvPicPr>
        <p:blipFill>
          <a:blip r:embed="rId2"/>
          <a:srcRect t="2000" b="2000" l="2095" r="2051"/>
          <a:stretch>
            <a:fillRect/>
          </a:stretch>
        </p:blipFill>
        <p:spPr>
          <a:xfrm>
            <a:off x="6350000" y="1574800"/>
            <a:ext cx="5130800" cy="3213100"/>
          </a:xfrm>
          <a:prstGeom prst="rect">
            <a:avLst/>
          </a:prstGeom>
          <a:ln w="12700">
            <a:solidFill>
              <a:srgbClr val="D8DEE4"/>
            </a:solidFill>
          </a:ln>
          <a:effectLst/>
        </p:spPr>
      </p:pic>
      <p:sp>
        <p:nvSpPr>
          <p:cNvPr id="10" name="TextBox 9"/>
          <p:cNvSpPr txBox="1"/>
          <p:nvPr/>
        </p:nvSpPr>
        <p:spPr>
          <a:xfrm>
            <a:off x="6350000" y="4876800"/>
            <a:ext cx="5130800" cy="203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deepseek-harness Web 实操界面（真实截图）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0" y="5232400"/>
            <a:ext cx="5130800" cy="965200"/>
          </a:xfrm>
          <a:prstGeom prst="rect">
            <a:avLst/>
          </a:prstGeom>
          <a:solidFill>
            <a:srgbClr val="F3F5F2"/>
          </a:solidFill>
          <a:ln w="1270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7800" y="5334000"/>
            <a:ext cx="4826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8A94A0"/>
                </a:solidFill>
                <a:latin typeface="JetBrains Mono"/>
                <a:ea typeface="JetBrains Mono"/>
              </a:rPr>
              <a:t># 一句话触发完整投研周期</a:t>
            </a:r>
          </a:p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3404F"/>
                </a:solidFill>
                <a:latin typeface="JetBrains Mono"/>
                <a:ea typeface="JetBrains Mono"/>
              </a:rPr>
              <a:t>$ aihf mandates/deep-value-weekly.yaml \</a:t>
            </a:r>
          </a:p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3404F"/>
                </a:solidFill>
                <a:latin typeface="JetBrains Mono"/>
                <a:ea typeface="JetBrains Mono"/>
              </a:rPr>
              <a:t>    --tickers AAPL,MSFT,NVDA --backtest \</a:t>
            </a:r>
          </a:p>
          <a:p>
            <a:pPr algn="l">
              <a:lnSpc>
                <a:spcPct val="155000"/>
              </a:lnSpc>
            </a:pPr>
            <a:r>
              <a:rPr sz="1000" b="0" i="0">
                <a:solidFill>
                  <a:srgbClr val="33404F"/>
                </a:solidFill>
                <a:latin typeface="JetBrains Mono"/>
                <a:ea typeface="JetBrains Mono"/>
              </a:rPr>
              <a:t>    --model deepseek-v4-pro --out records/b1.json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同一件事，三种做法的结构性差异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1200" y="1600200"/>
          <a:ext cx="107696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3136"/>
                <a:gridCol w="3446272"/>
                <a:gridCol w="2907792"/>
                <a:gridCol w="2692400"/>
              </a:tblGrid>
              <a:tr h="53340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能力</a:t>
                      </a:r>
                    </a:p>
                  </a:txBody>
                  <a:tcPr marL="76200" marR="76200" marT="25400" marB="25400" anchor="ctr">
                    <a:solidFill>
                      <a:srgbClr val="17233B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Alpha Desk（dsh skill 包）</a:t>
                      </a:r>
                    </a:p>
                  </a:txBody>
                  <a:tcPr marL="76200" marR="76200" marT="25400" marB="25400" anchor="ctr">
                    <a:solidFill>
                      <a:srgbClr val="17233B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LangChain / CrewAI 编排</a:t>
                      </a:r>
                    </a:p>
                  </a:txBody>
                  <a:tcPr marL="76200" marR="76200" marT="25400" marB="25400" anchor="ctr">
                    <a:solidFill>
                      <a:srgbClr val="17233B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</a:rPr>
                        <a:t>通用编码 Agent + 提示词</a:t>
                      </a:r>
                    </a:p>
                  </a:txBody>
                  <a:tcPr marL="76200" marR="76200" marT="25400" marB="25400" anchor="ctr">
                    <a:solidFill>
                      <a:srgbClr val="17233B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合规边界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C5B43"/>
                          </a:solidFill>
                        </a:rPr>
                        <a:t>架构级：hook 在工具分发前单调拒绝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04F"/>
                          </a:solidFill>
                        </a:rPr>
                        <a:t>需自行包装执行器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B42318"/>
                          </a:solidFill>
                        </a:rPr>
                        <a:t>仅靠提示词，模型可绕过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投研引擎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C5B43"/>
                          </a:solidFill>
                        </a:rPr>
                        <a:t>成熟开源基金引擎，JSON 输出可复现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04F"/>
                          </a:solidFill>
                        </a:rPr>
                        <a:t>自行拼装数据与策略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B42318"/>
                          </a:solidFill>
                        </a:rPr>
                        <a:t>模型即兴生成，无法复核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定时盯盘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C5B43"/>
                          </a:solidFill>
                        </a:rPr>
                        <a:t>cron 扩展点，声明式注册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04F"/>
                          </a:solidFill>
                        </a:rPr>
                        <a:t>需接外部调度器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B42318"/>
                          </a:solidFill>
                        </a:rPr>
                        <a:t>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观点追责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C5B43"/>
                          </a:solidFill>
                        </a:rPr>
                        <a:t>memory 台账 + 落盘记录，到期自动复盘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04F"/>
                          </a:solidFill>
                        </a:rPr>
                        <a:t>需自建状态层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B42318"/>
                          </a:solidFill>
                        </a:rPr>
                        <a:t>无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ctr"/>
                      <a:r>
                        <a:rPr sz="1200" b="1" i="0">
                          <a:solidFill>
                            <a:srgbClr val="17233B"/>
                          </a:solidFill>
                        </a:rPr>
                        <a:t>扩展生态</a:t>
                      </a:r>
                    </a:p>
                  </a:txBody>
                  <a:tcPr marL="76200" marR="76200" marT="25400" marB="25400" anchor="ctr">
                    <a:solidFill>
                      <a:srgbClr val="F3F5F2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0C5B43"/>
                          </a:solidFill>
                        </a:rPr>
                        <a:t>MCP / skill 生态直接复用，插件热重载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04F"/>
                          </a:solidFill>
                        </a:rPr>
                        <a:t>生态大但需自行整合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04F"/>
                          </a:solidFill>
                        </a:rPr>
                        <a:t>依赖宿主能力，不可控</a:t>
                      </a:r>
                    </a:p>
                  </a:txBody>
                  <a:tcPr marL="76200" marR="76200" marT="25400" marB="25400" anchor="ctr">
                    <a:solidFill>
                      <a:srgbClr val="FFFFFF"/>
                    </a:solidFill>
                    <a:lnL w="9525" cap="flat">
                      <a:solidFill>
                        <a:srgbClr val="D8DEE4"/>
                      </a:solidFill>
                    </a:lnL>
                    <a:lnR w="9525" cap="flat">
                      <a:solidFill>
                        <a:srgbClr val="D8DEE4"/>
                      </a:solidFill>
                    </a:lnR>
                    <a:lnT w="9525" cap="flat">
                      <a:solidFill>
                        <a:srgbClr val="D8DEE4"/>
                      </a:solidFill>
                    </a:lnT>
                    <a:lnB w="9525" cap="flat">
                      <a:solidFill>
                        <a:srgbClr val="D8DE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1200" y="5689600"/>
            <a:ext cx="10769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C5B43"/>
                </a:solidFill>
              </a:rPr>
              <a:t>差异不在"能不能做"，在"保证由谁提供"——框架提供，还是你自己补。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6350000"/>
            <a:ext cx="9652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机制引用：</a:t>
            </a:r>
            <a:r>
              <a:rPr sz="1100" b="0" i="0">
                <a:solidFill>
                  <a:srgbClr val="8A94A0"/>
                </a:solidFill>
                <a:hlinkClick r:id="rId2"/>
              </a:rPr>
              <a:t>deepseek-harness 官方文档</a:t>
            </a:r>
            <a:r>
              <a:rPr sz="1100" b="0" i="0">
                <a:solidFill>
                  <a:srgbClr val="8A94A0"/>
                </a:solidFill>
              </a:rPr>
              <a:t>（extension-cookbook / 功能→机制映射表）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WHY DSH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一个项目，示范 dsh 微内核的四类扩展点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574800"/>
            <a:ext cx="5334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33B"/>
                </a:solidFill>
              </a:rPr>
              <a:t>本项目用到的扩展点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1981200"/>
            <a:ext cx="53340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1" i="0">
                <a:solidFill>
                  <a:srgbClr val="0C5B43"/>
                </a:solidFill>
              </a:rPr>
              <a:t>skill</a:t>
            </a:r>
            <a:r>
              <a:rPr sz="1250" b="0" i="0">
                <a:solidFill>
                  <a:srgbClr val="33404F"/>
                </a:solidFill>
              </a:rPr>
              <a:t>　section + inject()，调用时注入工作流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8A94A0"/>
                </a:solidFill>
              </a:rPr>
              <a:t>　→ SKILL.md：五个投研工作流 + 合规红线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250" b="1" i="0">
                <a:solidFill>
                  <a:srgbClr val="0C5B43"/>
                </a:solidFill>
              </a:rPr>
              <a:t>hook</a:t>
            </a:r>
            <a:r>
              <a:rPr sz="1250" b="0" i="0">
                <a:solidFill>
                  <a:srgbClr val="33404F"/>
                </a:solidFill>
              </a:rPr>
              <a:t>　tools/pre-execute waterfall 门禁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8A94A0"/>
                </a:solidFill>
              </a:rPr>
              <a:t>　→ risk-gate：实盘 / 凭证访问单调拒绝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250" b="1" i="0">
                <a:solidFill>
                  <a:srgbClr val="0C5B43"/>
                </a:solidFill>
              </a:rPr>
              <a:t>cron</a:t>
            </a:r>
            <a:r>
              <a:rPr sz="1250" b="0" i="0">
                <a:solidFill>
                  <a:srgbClr val="33404F"/>
                </a:solidFill>
              </a:rPr>
              <a:t>　定时器触发，空闲时 followup 注入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8A94A0"/>
                </a:solidFill>
              </a:rPr>
              <a:t>　→ 盘前扫描、周末复盘，无人值守</a:t>
            </a:r>
          </a:p>
          <a:p>
            <a:pPr algn="l">
              <a:lnSpc>
                <a:spcPct val="160000"/>
              </a:lnSpc>
              <a:spcBef>
                <a:spcPts val="900"/>
              </a:spcBef>
            </a:pPr>
            <a:r>
              <a:rPr sz="1250" b="1" i="0">
                <a:solidFill>
                  <a:srgbClr val="0C5B43"/>
                </a:solidFill>
              </a:rPr>
              <a:t>memory</a:t>
            </a:r>
            <a:r>
              <a:rPr sz="1250" b="0" i="0">
                <a:solidFill>
                  <a:srgbClr val="33404F"/>
                </a:solidFill>
              </a:rPr>
              <a:t>　section 提供方 + 工具</a:t>
            </a:r>
          </a:p>
          <a:p>
            <a:pPr algn="l">
              <a:lnSpc>
                <a:spcPct val="160000"/>
              </a:lnSpc>
            </a:pPr>
            <a:r>
              <a:rPr sz="1100" b="0" i="0">
                <a:solidFill>
                  <a:srgbClr val="8A94A0"/>
                </a:solidFill>
              </a:rPr>
              <a:t>　→ 投资假设台账，跨会话存续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574800"/>
            <a:ext cx="12700" cy="41910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56400" y="1574800"/>
            <a:ext cx="47244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233B"/>
                </a:solidFill>
              </a:rPr>
              <a:t>微内核带来的组合红利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56400" y="1981200"/>
            <a:ext cx="47244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 i="0">
                <a:solidFill>
                  <a:srgbClr val="33404F"/>
                </a:solidFill>
              </a:rPr>
              <a:t>· </a:t>
            </a:r>
            <a:r>
              <a:rPr sz="1250" b="1" i="0">
                <a:solidFill>
                  <a:srgbClr val="33404F"/>
                </a:solidFill>
              </a:rPr>
              <a:t>零侵入</a:t>
            </a:r>
            <a:r>
              <a:rPr sz="1250" b="0" i="0">
                <a:solidFill>
                  <a:srgbClr val="33404F"/>
                </a:solidFill>
              </a:rPr>
              <a:t>：所有能力挂在公开扩展点，执行循环一行未改</a:t>
            </a: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sz="1250" b="0" i="0">
                <a:solidFill>
                  <a:srgbClr val="33404F"/>
                </a:solidFill>
              </a:rPr>
              <a:t>· </a:t>
            </a:r>
            <a:r>
              <a:rPr sz="1250" b="1" i="0">
                <a:solidFill>
                  <a:srgbClr val="33404F"/>
                </a:solidFill>
              </a:rPr>
              <a:t>生态复用</a:t>
            </a:r>
            <a:r>
              <a:rPr sz="1250" b="0" i="0">
                <a:solidFill>
                  <a:srgbClr val="33404F"/>
                </a:solidFill>
              </a:rPr>
              <a:t>：MCP server 一挂即插件，skill 与 Claude / Kimi 同构，存量技能直接可用</a:t>
            </a: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sz="1250" b="0" i="0">
                <a:solidFill>
                  <a:srgbClr val="33404F"/>
                </a:solidFill>
              </a:rPr>
              <a:t>· </a:t>
            </a:r>
            <a:r>
              <a:rPr sz="1250" b="1" i="0">
                <a:solidFill>
                  <a:srgbClr val="33404F"/>
                </a:solidFill>
              </a:rPr>
              <a:t>热重载</a:t>
            </a:r>
            <a:r>
              <a:rPr sz="1250" b="0" i="0">
                <a:solidFill>
                  <a:srgbClr val="33404F"/>
                </a:solidFill>
              </a:rPr>
              <a:t>：插件注册即 ctx.effect，改完即时生效，开发迭代快</a:t>
            </a:r>
          </a:p>
          <a:p>
            <a:pPr algn="l">
              <a:lnSpc>
                <a:spcPct val="160000"/>
              </a:lnSpc>
              <a:spcBef>
                <a:spcPts val="800"/>
              </a:spcBef>
            </a:pPr>
            <a:r>
              <a:rPr sz="1250" b="0" i="0">
                <a:solidFill>
                  <a:srgbClr val="33404F"/>
                </a:solidFill>
              </a:rPr>
              <a:t>· </a:t>
            </a:r>
            <a:r>
              <a:rPr sz="1250" b="1" i="0">
                <a:solidFill>
                  <a:srgbClr val="33404F"/>
                </a:solidFill>
              </a:rPr>
              <a:t>可无头运行</a:t>
            </a:r>
            <a:r>
              <a:rPr sz="1250" b="0" i="0">
                <a:solidFill>
                  <a:srgbClr val="33404F"/>
                </a:solidFill>
              </a:rPr>
              <a:t>：ACP / JSON-RPC 驱动，盘前扫描不需要人坐在电脑前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200" y="59436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" y="6121400"/>
            <a:ext cx="107696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C5B43"/>
                </a:solidFill>
              </a:rPr>
              <a:t>对评委的一句话：这不是'又一个 wrapper'，而是 dsh 扩展能力的一次全景实证。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我们主动写清的边界与风险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1200" y="1549400"/>
            <a:ext cx="190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33B"/>
                </a:solidFill>
              </a:rPr>
              <a:t>数据覆盖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49400"/>
            <a:ext cx="873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33404F"/>
                </a:solidFill>
              </a:rPr>
              <a:t>Financial Datasets 以美股为主；A股/港股联动本地技术分析技能。两边引擎与数据源不同，结论不直接互换。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11200" y="20828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1200" y="2260600"/>
            <a:ext cx="190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33B"/>
                </a:solidFill>
              </a:rPr>
              <a:t>回测局限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260600"/>
            <a:ext cx="873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33404F"/>
                </a:solidFill>
              </a:rPr>
              <a:t>历史回测不代表未来收益；所有输出附"仅供学习研究，不构成投资建议"声明，skill 层强制执行。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1200" y="27940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1200" y="2971800"/>
            <a:ext cx="190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33B"/>
                </a:solidFill>
              </a:rPr>
              <a:t>引擎版本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971800"/>
            <a:ext cx="873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33404F"/>
                </a:solidFill>
              </a:rPr>
              <a:t>ai-hedge-fund 正向"持久化基金"架构重构中；本项目锁定已验证的 2.2.0，升级前重新回归测试。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1200" y="35052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1200" y="3683000"/>
            <a:ext cx="190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33B"/>
                </a:solidFill>
              </a:rPr>
              <a:t>调用成本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83000"/>
            <a:ext cx="873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33404F"/>
                </a:solidFill>
              </a:rPr>
              <a:t>LLM 信号消耗 API 额度，回测成本 ≈ 周期数 × 模型数 × 标的数（例：52 周 × 3 模型 × 3 票 ≈ 468 次）。skill 要求运行前先估算告知。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1200" y="4216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1200" y="4394200"/>
            <a:ext cx="1905000" cy="279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233B"/>
                </a:solidFill>
              </a:rPr>
              <a:t>产品定位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394200"/>
            <a:ext cx="873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50" b="0" i="0">
                <a:solidFill>
                  <a:srgbClr val="33404F"/>
                </a:solidFill>
              </a:rPr>
              <a:t>纯投研环境，永不执行真实交易——由 risk-gate 在架构层强制，而非依赖使用者的自觉。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1200" y="49276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200" y="5257800"/>
            <a:ext cx="107696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3404F"/>
                </a:solidFill>
              </a:rPr>
              <a:t>把边界写在明处，是金融工具的基本素养。</a:t>
            </a:r>
          </a:p>
          <a:p>
            <a:pPr algn="l">
              <a:lnSpc>
                <a:spcPct val="160000"/>
              </a:lnSpc>
            </a:pPr>
            <a:r>
              <a:rPr sz="1300" b="1" i="0">
                <a:solidFill>
                  <a:srgbClr val="0C5B43"/>
                </a:solidFill>
              </a:rPr>
              <a:t>能清晰说出"我不做什么"的 Agent，才配被托付"做什么"。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11200" y="457200"/>
            <a:ext cx="50800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0C5B43"/>
                </a:solidFill>
              </a:rP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1200" y="711200"/>
            <a:ext cx="107696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17233B"/>
                </a:solidFill>
              </a:rPr>
              <a:t>从能用到好用：三个阶段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1200" y="12954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16000" y="2413000"/>
            <a:ext cx="10160000" cy="254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24000" y="2324100"/>
            <a:ext cx="203200" cy="203200"/>
          </a:xfrm>
          <a:prstGeom prst="ellipse">
            <a:avLst/>
          </a:prstGeom>
          <a:solidFill>
            <a:srgbClr val="0C5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6000" y="1905000"/>
            <a:ext cx="2794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C5B43"/>
                </a:solidFill>
              </a:rPr>
              <a:t>P0 · 已交付（2026-08）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000" y="2743200"/>
            <a:ext cx="3048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alpha-desk skill（五个工作流）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三份开箱 mandate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risk-gate 风控插件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dsh 实测注入与引擎验证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双语 README / MIT 开源</a:t>
            </a:r>
          </a:p>
        </p:txBody>
      </p:sp>
      <p:sp>
        <p:nvSpPr>
          <p:cNvPr id="9" name="Oval 8"/>
          <p:cNvSpPr/>
          <p:nvPr/>
        </p:nvSpPr>
        <p:spPr>
          <a:xfrm>
            <a:off x="5588000" y="2324100"/>
            <a:ext cx="203200" cy="203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C5B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80000" y="1905000"/>
            <a:ext cx="2794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7233B"/>
                </a:solidFill>
              </a:rPr>
              <a:t>P1 · 进行中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0" y="2743200"/>
            <a:ext cx="3048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引擎 MCP 化，跨框架复用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A股引擎原生 skill 化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headless（ACP）盘前扫描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回测报告自动生成与归档</a:t>
            </a:r>
          </a:p>
        </p:txBody>
      </p:sp>
      <p:sp>
        <p:nvSpPr>
          <p:cNvPr id="12" name="Oval 11"/>
          <p:cNvSpPr/>
          <p:nvPr/>
        </p:nvSpPr>
        <p:spPr>
          <a:xfrm>
            <a:off x="9652000" y="2324100"/>
            <a:ext cx="203200" cy="203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A94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1905000"/>
            <a:ext cx="2794000" cy="254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8A94A0"/>
                </a:solidFill>
              </a:rPr>
              <a:t>P2 · 规划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2743200"/>
            <a:ext cx="2540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多基金组合与归因分析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策略模板市场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paper-trading 只读对账</a:t>
            </a:r>
          </a:p>
          <a:p>
            <a:pPr algn="l">
              <a:lnSpc>
                <a:spcPct val="165000"/>
              </a:lnSpc>
            </a:pPr>
            <a:r>
              <a:rPr sz="1200" b="0" i="0">
                <a:solidFill>
                  <a:srgbClr val="33404F"/>
                </a:solidFill>
              </a:rPr>
              <a:t>· 假设胜率统计看板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1200" y="5334000"/>
            <a:ext cx="10769600" cy="12700"/>
          </a:xfrm>
          <a:prstGeom prst="rect">
            <a:avLst/>
          </a:prstGeom>
          <a:solidFill>
            <a:srgbClr val="D8D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1200" y="5562600"/>
            <a:ext cx="10769600" cy="55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3404F"/>
                </a:solidFill>
              </a:rPr>
              <a:t>P0 已可装、可跑、可验证；P1 把编排层沉淀为跨框架公共件；</a:t>
            </a:r>
          </a:p>
          <a:p>
            <a:pPr algn="l">
              <a:lnSpc>
                <a:spcPct val="160000"/>
              </a:lnSpc>
            </a:pPr>
            <a:r>
              <a:rPr sz="1300" b="0" i="0">
                <a:solidFill>
                  <a:srgbClr val="33404F"/>
                </a:solidFill>
              </a:rPr>
              <a:t>P2 让"被追责的观点"沉淀为可统计、可学习的策略资产。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9000" y="6502400"/>
            <a:ext cx="43180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>
              <a:lnSpc>
                <a:spcPct val="150000"/>
              </a:lnSpc>
            </a:pPr>
            <a:r>
              <a:rPr sz="1100" b="0" i="0">
                <a:solidFill>
                  <a:srgbClr val="8A94A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3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524000"/>
            <a:ext cx="6350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7FB8A4"/>
                </a:solidFill>
              </a:rP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930400"/>
            <a:ext cx="105664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引擎可复现 · 合规可证明 · 观点可追溯</a:t>
            </a:r>
          </a:p>
          <a:p>
            <a:pPr algn="l">
              <a:spcBef>
                <a:spcPts val="1400"/>
              </a:spcBef>
            </a:pPr>
            <a:r>
              <a:rPr sz="1700" b="0" i="0">
                <a:solidFill>
                  <a:srgbClr val="B9C4D1"/>
                </a:solidFill>
              </a:rPr>
              <a:t>这就是 Agent 时代投研工具该有的样子。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3708400"/>
            <a:ext cx="1524000" cy="50800"/>
          </a:xfrm>
          <a:prstGeom prst="rect">
            <a:avLst/>
          </a:prstGeom>
          <a:solidFill>
            <a:srgbClr val="0C5B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2800" y="4038600"/>
            <a:ext cx="10566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300" b="0" i="0">
                <a:solidFill>
                  <a:srgbClr val="7FB8A4"/>
                </a:solidFill>
              </a:rPr>
              <a:t>本项目（MIT）　</a:t>
            </a:r>
            <a:r>
              <a:rPr sz="1300" b="0" i="0">
                <a:solidFill>
                  <a:srgbClr val="DCE5EE"/>
                </a:solidFill>
              </a:rPr>
              <a:t>github.com/JingHao-Leon/dsh-alpha-desk</a:t>
            </a:r>
          </a:p>
          <a:p>
            <a:pPr algn="l">
              <a:lnSpc>
                <a:spcPct val="190000"/>
              </a:lnSpc>
            </a:pPr>
            <a:r>
              <a:rPr sz="1300" b="0" i="0">
                <a:solidFill>
                  <a:srgbClr val="7FB8A4"/>
                </a:solidFill>
              </a:rPr>
              <a:t>配套教程　　　</a:t>
            </a:r>
            <a:r>
              <a:rPr sz="1300" b="0" i="0">
                <a:solidFill>
                  <a:srgbClr val="DCE5EE"/>
                </a:solidFill>
              </a:rPr>
              <a:t>github.com/JingHao-Leon/deepseek-harness-guide</a:t>
            </a:r>
          </a:p>
          <a:p>
            <a:pPr algn="l">
              <a:lnSpc>
                <a:spcPct val="190000"/>
              </a:lnSpc>
            </a:pPr>
            <a:r>
              <a:rPr sz="1300" b="0" i="0">
                <a:solidFill>
                  <a:srgbClr val="7FB8A4"/>
                </a:solidFill>
              </a:rPr>
              <a:t>引擎 / 运行时</a:t>
            </a:r>
            <a:r>
              <a:rPr sz="1300" b="0" i="0">
                <a:solidFill>
                  <a:srgbClr val="DCE5EE"/>
                </a:solidFill>
              </a:rPr>
              <a:t>virattt/ai-hedge-fund × deepseek-ai/deepseek-harness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812800" y="5969000"/>
            <a:ext cx="10566400" cy="12700"/>
          </a:xfrm>
          <a:prstGeom prst="rect">
            <a:avLst/>
          </a:prstGeom>
          <a:solidFill>
            <a:srgbClr val="3340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6146800"/>
            <a:ext cx="10566400" cy="203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8A94A0"/>
                </a:solidFill>
              </a:rPr>
              <a:t>本项目仅供学习研究，不构成投资建议 · 永不执行真实交易 · 回测结果不代表未来收益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