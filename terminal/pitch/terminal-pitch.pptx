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1200" y="762000"/>
            <a:ext cx="63500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0C5B43"/>
                </a:solidFill>
              </a:rPr>
              <a:t>ALPHA-DESK TERMINAL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200" y="1117600"/>
            <a:ext cx="7874000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1" i="0">
                <a:solidFill>
                  <a:srgbClr val="17233B"/>
                </a:solidFill>
              </a:rPr>
              <a:t>看得见的专家团，</a:t>
            </a:r>
          </a:p>
          <a:p>
            <a:pPr algn="l">
              <a:lnSpc>
                <a:spcPct val="130000"/>
              </a:lnSpc>
            </a:pPr>
            <a:r>
              <a:rPr sz="3400" b="1" i="0">
                <a:solidFill>
                  <a:srgbClr val="17233B"/>
                </a:solidFill>
              </a:rPr>
              <a:t>数得清的 Token 轨迹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2489200"/>
            <a:ext cx="7874000" cy="55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0" i="0">
                <a:solidFill>
                  <a:srgbClr val="33404F"/>
                </a:solidFill>
              </a:rPr>
              <a:t>deepseek-harness × vnpy × ai-hedge-fund 量化投研终端</a:t>
            </a:r>
          </a:p>
          <a:p>
            <a:pPr algn="l">
              <a:lnSpc>
                <a:spcPct val="160000"/>
              </a:lnSpc>
            </a:pPr>
            <a:r>
              <a:rPr sz="1400" b="0" i="0">
                <a:solidFill>
                  <a:srgbClr val="33404F"/>
                </a:solidFill>
              </a:rPr>
              <a:t>多大师信号面板 · 逐步思考与工具调用回放 · 逐 step token 计量</a:t>
            </a:r>
          </a:p>
        </p:txBody>
      </p:sp>
      <p:sp>
        <p:nvSpPr>
          <p:cNvPr id="5" name="Rectangle 4"/>
          <p:cNvSpPr/>
          <p:nvPr/>
        </p:nvSpPr>
        <p:spPr>
          <a:xfrm>
            <a:off x="711200" y="3276600"/>
            <a:ext cx="5334000" cy="1270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1200" y="3454400"/>
            <a:ext cx="6350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8A94A0"/>
                </a:solidFill>
              </a:rPr>
              <a:t>github.com/JingHao-Leon/dsh-alpha-desk · terminal/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8A94A0"/>
                </a:solidFill>
              </a:rPr>
              <a:t>2026-08-15 · 本内容仅供学习研究，不构成投资建议</a:t>
            </a:r>
          </a:p>
        </p:txBody>
      </p:sp>
      <p:pic>
        <p:nvPicPr>
          <p:cNvPr id="7" name="Picture 6" descr="terminal-trace.png"/>
          <p:cNvPicPr>
            <a:picLocks noChangeAspect="1"/>
          </p:cNvPicPr>
          <p:nvPr/>
        </p:nvPicPr>
        <p:blipFill>
          <a:blip r:embed="rId2"/>
          <a:srcRect t="13539" b="42324"/>
          <a:stretch>
            <a:fillRect/>
          </a:stretch>
        </p:blipFill>
        <p:spPr>
          <a:xfrm>
            <a:off x="711200" y="4191000"/>
            <a:ext cx="10769600" cy="2286000"/>
          </a:xfrm>
          <a:prstGeom prst="rect">
            <a:avLst/>
          </a:prstGeom>
          <a:ln w="12700">
            <a:solidFill>
              <a:srgbClr val="D8DEE4"/>
            </a:solidFill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711200" y="6502400"/>
            <a:ext cx="1076960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1100" b="0" i="0">
                <a:solidFill>
                  <a:srgbClr val="8A94A0"/>
                </a:solidFill>
              </a:rPr>
              <a:t>终端实拍：自选报价 · 对话 · K线 · 专家团 四区同屏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1200" y="457200"/>
            <a:ext cx="50800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0C5B43"/>
                </a:solidFill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200" y="711200"/>
            <a:ext cx="107696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17233B"/>
                </a:solidFill>
              </a:rPr>
              <a:t>三层结构：界面、网关、引擎各司其职</a:t>
            </a:r>
          </a:p>
        </p:txBody>
      </p:sp>
      <p:sp>
        <p:nvSpPr>
          <p:cNvPr id="4" name="Rectangle 3"/>
          <p:cNvSpPr/>
          <p:nvPr/>
        </p:nvSpPr>
        <p:spPr>
          <a:xfrm>
            <a:off x="711200" y="1295400"/>
            <a:ext cx="10769600" cy="1270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1200" y="1651000"/>
            <a:ext cx="7112000" cy="1066800"/>
          </a:xfrm>
          <a:prstGeom prst="roundRect">
            <a:avLst/>
          </a:prstGeom>
          <a:solidFill>
            <a:srgbClr val="F3F5F2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5200" y="1778000"/>
            <a:ext cx="6604000" cy="81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 i="0">
                <a:solidFill>
                  <a:srgbClr val="33404F"/>
                </a:solidFill>
              </a:rPr>
              <a:t>界面层 · React + klinecharts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8A94A0"/>
                </a:solidFill>
              </a:rPr>
              <a:t>四区布局：自选报价 / agent 对话 / K线（日K·60·15·5分）/ 报价明细与专家团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1200" y="2717800"/>
            <a:ext cx="7112000" cy="254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00" b="0" i="0">
                <a:solidFill>
                  <a:srgbClr val="8A94A0"/>
                </a:solidFill>
              </a:rPr>
              <a:t>↓ REST + WebSocket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1200" y="3022600"/>
            <a:ext cx="7112000" cy="1066800"/>
          </a:xfrm>
          <a:prstGeom prst="roundRect">
            <a:avLst/>
          </a:prstGeom>
          <a:solidFill>
            <a:srgbClr val="F3F5F2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5200" y="3149600"/>
            <a:ext cx="6604000" cy="81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 i="0">
                <a:solidFill>
                  <a:srgbClr val="33404F"/>
                </a:solidFill>
              </a:rPr>
              <a:t>网关层 · FastAPI（只读）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8A94A0"/>
                </a:solidFill>
              </a:rPr>
              <a:t>/api/chat 返回回复+运行轨迹 · /api/experts 召开专家团 · /ws/quotes 推送行情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1200" y="4089400"/>
            <a:ext cx="7112000" cy="254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00" b="0" i="0">
                <a:solidFill>
                  <a:srgbClr val="8A94A0"/>
                </a:solidFill>
              </a:rPr>
              <a:t>↓ 子进程调用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1200" y="4394200"/>
            <a:ext cx="7112000" cy="1498600"/>
          </a:xfrm>
          <a:prstGeom prst="roundRect">
            <a:avLst/>
          </a:prstGeom>
          <a:solidFill>
            <a:srgbClr val="ECF2F0"/>
          </a:solidFill>
          <a:ln w="12700">
            <a:solidFill>
              <a:srgbClr val="0C5B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200" y="4521200"/>
            <a:ext cx="660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1" i="0">
                <a:solidFill>
                  <a:srgbClr val="33404F"/>
                </a:solidFill>
              </a:rPr>
              <a:t>引擎层 · 四路独立数据源</a:t>
            </a:r>
          </a:p>
          <a:p>
            <a:pPr algn="l">
              <a:lnSpc>
                <a:spcPct val="155000"/>
              </a:lnSpc>
            </a:pPr>
            <a:r>
              <a:rPr sz="1200" b="0" i="0">
                <a:solidFill>
                  <a:srgbClr val="33404F"/>
                </a:solidFill>
              </a:rPr>
              <a:t>· 行情：腾讯 gtimg 实时报价与K线，输出 vnpy 原生 BarData/TickData</a:t>
            </a:r>
          </a:p>
          <a:p>
            <a:pPr algn="l">
              <a:lnSpc>
                <a:spcPct val="155000"/>
              </a:lnSpc>
            </a:pPr>
            <a:r>
              <a:rPr sz="1200" b="0" i="0">
                <a:solidFill>
                  <a:srgbClr val="33404F"/>
                </a:solidFill>
              </a:rPr>
              <a:t>· 对话：dsh headless + alpha-desk skill + risk-gate 风控插件</a:t>
            </a:r>
          </a:p>
          <a:p>
            <a:pPr algn="l">
              <a:lnSpc>
                <a:spcPct val="155000"/>
              </a:lnSpc>
            </a:pPr>
            <a:r>
              <a:rPr sz="1200" b="0" i="0">
                <a:solidFill>
                  <a:srgbClr val="33404F"/>
                </a:solidFill>
              </a:rPr>
              <a:t>· 专家团：aihf 多大师模型推理，CycleRecord 落盘 records/</a:t>
            </a:r>
          </a:p>
          <a:p>
            <a:pPr algn="l">
              <a:lnSpc>
                <a:spcPct val="155000"/>
              </a:lnSpc>
            </a:pPr>
            <a:r>
              <a:rPr sz="1200" b="0" i="0">
                <a:solidFill>
                  <a:srgbClr val="33404F"/>
                </a:solidFill>
              </a:rPr>
              <a:t>· 轨迹：dsh session 存档（jsonl）逐事件解析，token 逐步计量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80400" y="1651000"/>
            <a:ext cx="32004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7233B"/>
                </a:solidFill>
              </a:rPr>
              <a:t>设计要点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0400" y="2006600"/>
            <a:ext cx="3200400" cy="304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250" b="0" i="0">
                <a:solidFill>
                  <a:srgbClr val="33404F"/>
                </a:solidFill>
              </a:rPr>
              <a:t>· 网关不持有任何凭证，下单命令在 risk-gate 层被拦截</a:t>
            </a:r>
          </a:p>
          <a:p>
            <a:pPr algn="l">
              <a:lnSpc>
                <a:spcPct val="170000"/>
              </a:lnSpc>
            </a:pPr>
            <a:r>
              <a:rPr sz="1250" b="0" i="0">
                <a:solidFill>
                  <a:srgbClr val="33404F"/>
                </a:solidFill>
              </a:rPr>
              <a:t>· 行情与 agent 解耦，任一路故障不影响其他区</a:t>
            </a:r>
          </a:p>
          <a:p>
            <a:pPr algn="l">
              <a:lnSpc>
                <a:spcPct val="170000"/>
              </a:lnSpc>
            </a:pPr>
            <a:r>
              <a:rPr sz="1250" b="0" i="0">
                <a:solidFill>
                  <a:srgbClr val="33404F"/>
                </a:solidFill>
              </a:rPr>
              <a:t>· 轨迹数据来自 dsh 自身存档，不是估算或回放造假</a:t>
            </a:r>
          </a:p>
          <a:p>
            <a:pPr algn="l">
              <a:lnSpc>
                <a:spcPct val="170000"/>
              </a:lnSpc>
            </a:pPr>
            <a:r>
              <a:rPr sz="1250" b="0" i="0">
                <a:solidFill>
                  <a:srgbClr val="33404F"/>
                </a:solidFill>
              </a:rPr>
              <a:t>· 专家团结果结构化存储，可被复盘流程复用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80400" y="5257800"/>
            <a:ext cx="3200400" cy="1270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80400" y="5410200"/>
            <a:ext cx="32004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8A94A0"/>
                </a:solidFill>
              </a:rPr>
              <a:t>整套系统两个进程即可启动：uvicorn 网关 + Vite 前端，无数据库依赖。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9000" y="6502400"/>
            <a:ext cx="43180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50000"/>
              </a:lnSpc>
            </a:pPr>
            <a:r>
              <a:rPr sz="1100" b="0" i="0">
                <a:solidFill>
                  <a:srgbClr val="8A94A0"/>
                </a:solidFill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1200" y="457200"/>
            <a:ext cx="50800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0C5B43"/>
                </a:solidFill>
              </a:rPr>
              <a:t>TERMINAL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200" y="711200"/>
            <a:ext cx="107696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17233B"/>
                </a:solidFill>
              </a:rPr>
              <a:t>四区同屏：行情、对话、K线、专家团</a:t>
            </a:r>
          </a:p>
        </p:txBody>
      </p:sp>
      <p:sp>
        <p:nvSpPr>
          <p:cNvPr id="4" name="Rectangle 3"/>
          <p:cNvSpPr/>
          <p:nvPr/>
        </p:nvSpPr>
        <p:spPr>
          <a:xfrm>
            <a:off x="711200" y="1295400"/>
            <a:ext cx="10769600" cy="1270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minal-experts.png"/>
          <p:cNvPicPr>
            <a:picLocks noChangeAspect="1"/>
          </p:cNvPicPr>
          <p:nvPr/>
        </p:nvPicPr>
        <p:blipFill>
          <a:blip r:embed="rId2"/>
          <a:srcRect l="500" r="500" t="310" b="309"/>
          <a:stretch>
            <a:fillRect/>
          </a:stretch>
        </p:blipFill>
        <p:spPr>
          <a:xfrm>
            <a:off x="711200" y="1574800"/>
            <a:ext cx="7112000" cy="3530600"/>
          </a:xfrm>
          <a:prstGeom prst="rect">
            <a:avLst/>
          </a:prstGeom>
          <a:ln w="12700">
            <a:solidFill>
              <a:srgbClr val="D8DEE4"/>
            </a:solidFill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711200" y="5181600"/>
            <a:ext cx="711200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1100" b="0" i="0">
                <a:solidFill>
                  <a:srgbClr val="8A94A0"/>
                </a:solidFill>
              </a:rPr>
              <a:t>真实运行截图（2026-08-15，A股盘后数据）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574800"/>
            <a:ext cx="3251200" cy="381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</a:pPr>
            <a:r>
              <a:rPr sz="1250" b="1" i="0">
                <a:solidFill>
                  <a:srgbClr val="0C5B43"/>
                </a:solidFill>
              </a:rPr>
              <a:t>① 自选报价</a:t>
            </a:r>
            <a:r>
              <a:rPr sz="1250" b="0" i="0">
                <a:solidFill>
                  <a:srgbClr val="33404F"/>
                </a:solidFill>
              </a:rPr>
              <a:t>　红涨绿跌，WebSocket 每 15 秒推送，支持增删标的</a:t>
            </a:r>
          </a:p>
          <a:p>
            <a:pPr algn="l">
              <a:lnSpc>
                <a:spcPct val="165000"/>
              </a:lnSpc>
              <a:spcBef>
                <a:spcPts val="1000"/>
              </a:spcBef>
            </a:pPr>
            <a:r>
              <a:rPr sz="1250" b="1" i="0">
                <a:solidFill>
                  <a:srgbClr val="0C5B43"/>
                </a:solidFill>
              </a:rPr>
              <a:t>② agent 对话</a:t>
            </a:r>
            <a:r>
              <a:rPr sz="1250" b="0" i="0">
                <a:solidFill>
                  <a:srgbClr val="33404F"/>
                </a:solidFill>
              </a:rPr>
              <a:t>　选中标的直接提问，回答自动附免责声明与运行轨迹</a:t>
            </a:r>
          </a:p>
          <a:p>
            <a:pPr algn="l">
              <a:lnSpc>
                <a:spcPct val="165000"/>
              </a:lnSpc>
              <a:spcBef>
                <a:spcPts val="1000"/>
              </a:spcBef>
            </a:pPr>
            <a:r>
              <a:rPr sz="1250" b="1" i="0">
                <a:solidFill>
                  <a:srgbClr val="0C5B43"/>
                </a:solidFill>
              </a:rPr>
              <a:t>③ K线</a:t>
            </a:r>
            <a:r>
              <a:rPr sz="1250" b="0" i="0">
                <a:solidFill>
                  <a:srgbClr val="33404F"/>
                </a:solidFill>
              </a:rPr>
              <a:t>　日K / 60 / 15 / 5 分钟切换，MA5-60 + 成交量副图</a:t>
            </a:r>
          </a:p>
          <a:p>
            <a:pPr algn="l">
              <a:lnSpc>
                <a:spcPct val="165000"/>
              </a:lnSpc>
              <a:spcBef>
                <a:spcPts val="1000"/>
              </a:spcBef>
            </a:pPr>
            <a:r>
              <a:rPr sz="1250" b="1" i="0">
                <a:solidFill>
                  <a:srgbClr val="0C5B43"/>
                </a:solidFill>
              </a:rPr>
              <a:t>④ 报价明细 × 专家团</a:t>
            </a:r>
            <a:r>
              <a:rPr sz="1250" b="0" i="0">
                <a:solidFill>
                  <a:srgbClr val="33404F"/>
                </a:solidFill>
              </a:rPr>
              <a:t>　右侧双 tab：盘口十二项指标，或召开多大师研讨会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0" y="5588000"/>
            <a:ext cx="3251200" cy="1270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5740400"/>
            <a:ext cx="3251200" cy="711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8A94A0"/>
                </a:solidFill>
              </a:rPr>
              <a:t>状态栏常驻提示：数据源、agent 栈构成与免责声明，界面任何角落都不脱离合规语境。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0" y="6502400"/>
            <a:ext cx="43180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50000"/>
              </a:lnSpc>
            </a:pPr>
            <a:r>
              <a:rPr sz="1100" b="0" i="0">
                <a:solidFill>
                  <a:srgbClr val="8A94A0"/>
                </a:solidFill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1200" y="457200"/>
            <a:ext cx="50800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0C5B43"/>
                </a:solidFill>
              </a:rPr>
              <a:t>EXPERT PANEL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200" y="711200"/>
            <a:ext cx="107696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17233B"/>
                </a:solidFill>
              </a:rPr>
              <a:t>专家团：六位大师同席，分歧摆上台面</a:t>
            </a:r>
          </a:p>
        </p:txBody>
      </p:sp>
      <p:sp>
        <p:nvSpPr>
          <p:cNvPr id="4" name="Rectangle 3"/>
          <p:cNvSpPr/>
          <p:nvPr/>
        </p:nvSpPr>
        <p:spPr>
          <a:xfrm>
            <a:off x="711200" y="1295400"/>
            <a:ext cx="10769600" cy="1270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1200" y="1574800"/>
            <a:ext cx="7112000" cy="55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300" b="0" i="0">
                <a:solidFill>
                  <a:srgbClr val="33404F"/>
                </a:solidFill>
              </a:rPr>
              <a:t>底层是 ai-hedge-fund 的多模型架构：每位大师独立给出 [-1, 1] 多空信号与文字理由，组合经理再汇总成仓位。终端把这个过程做成了可视化面板。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11200" y="2286000"/>
          <a:ext cx="7112000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9120"/>
                <a:gridCol w="1422400"/>
                <a:gridCol w="3840480"/>
              </a:tblGrid>
              <a:tr h="426720"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33404F"/>
                          </a:solidFill>
                        </a:rPr>
                        <a:t>模型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9525" cap="flat">
                      <a:solidFill>
                        <a:srgbClr val="D8DEE4"/>
                      </a:solidFill>
                    </a:lnL>
                    <a:lnR w="9525" cap="flat">
                      <a:solidFill>
                        <a:srgbClr val="D8DEE4"/>
                      </a:solidFill>
                    </a:lnR>
                    <a:lnT w="9525" cap="flat">
                      <a:solidFill>
                        <a:srgbClr val="D8DEE4"/>
                      </a:solidFill>
                    </a:lnT>
                    <a:lnB w="9525" cap="flat">
                      <a:solidFill>
                        <a:srgbClr val="D8DE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33404F"/>
                          </a:solidFill>
                        </a:rPr>
                        <a:t>立场*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9525" cap="flat">
                      <a:solidFill>
                        <a:srgbClr val="D8DEE4"/>
                      </a:solidFill>
                    </a:lnL>
                    <a:lnR w="9525" cap="flat">
                      <a:solidFill>
                        <a:srgbClr val="D8DEE4"/>
                      </a:solidFill>
                    </a:lnR>
                    <a:lnT w="9525" cap="flat">
                      <a:solidFill>
                        <a:srgbClr val="D8DEE4"/>
                      </a:solidFill>
                    </a:lnT>
                    <a:lnB w="9525" cap="flat">
                      <a:solidFill>
                        <a:srgbClr val="D8DE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33404F"/>
                          </a:solidFill>
                        </a:rPr>
                        <a:t>核心理由（AAPL 示例）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9525" cap="flat">
                      <a:solidFill>
                        <a:srgbClr val="D8DEE4"/>
                      </a:solidFill>
                    </a:lnL>
                    <a:lnR w="9525" cap="flat">
                      <a:solidFill>
                        <a:srgbClr val="D8DEE4"/>
                      </a:solidFill>
                    </a:lnR>
                    <a:lnT w="9525" cap="flat">
                      <a:solidFill>
                        <a:srgbClr val="D8DEE4"/>
                      </a:solidFill>
                    </a:lnT>
                    <a:lnB w="9525" cap="flat">
                      <a:solidFill>
                        <a:srgbClr val="D8DEE4"/>
                      </a:solidFill>
                    </a:lnB>
                  </a:tcPr>
                </a:tc>
              </a:tr>
              <a:tr h="373380"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33404F"/>
                          </a:solidFill>
                        </a:rPr>
                        <a:t>格雷厄姆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9525" cap="flat">
                      <a:solidFill>
                        <a:srgbClr val="D8DEE4"/>
                      </a:solidFill>
                    </a:lnL>
                    <a:lnR w="9525" cap="flat">
                      <a:solidFill>
                        <a:srgbClr val="D8DEE4"/>
                      </a:solidFill>
                    </a:lnR>
                    <a:lnT w="9525" cap="flat">
                      <a:solidFill>
                        <a:srgbClr val="D8DEE4"/>
                      </a:solidFill>
                    </a:lnT>
                    <a:lnB w="9525" cap="flat">
                      <a:solidFill>
                        <a:srgbClr val="D8DE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EBD85"/>
                          </a:solidFill>
                        </a:rPr>
                        <a:t>看空 -0.35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9525" cap="flat">
                      <a:solidFill>
                        <a:srgbClr val="D8DEE4"/>
                      </a:solidFill>
                    </a:lnL>
                    <a:lnR w="9525" cap="flat">
                      <a:solidFill>
                        <a:srgbClr val="D8DEE4"/>
                      </a:solidFill>
                    </a:lnR>
                    <a:lnT w="9525" cap="flat">
                      <a:solidFill>
                        <a:srgbClr val="D8DEE4"/>
                      </a:solidFill>
                    </a:lnT>
                    <a:lnB w="9525" cap="flat">
                      <a:solidFill>
                        <a:srgbClr val="D8DE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33404F"/>
                          </a:solidFill>
                        </a:rPr>
                        <a:t>估值无安全边际，不符合防御型标准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9525" cap="flat">
                      <a:solidFill>
                        <a:srgbClr val="D8DEE4"/>
                      </a:solidFill>
                    </a:lnL>
                    <a:lnR w="9525" cap="flat">
                      <a:solidFill>
                        <a:srgbClr val="D8DEE4"/>
                      </a:solidFill>
                    </a:lnR>
                    <a:lnT w="9525" cap="flat">
                      <a:solidFill>
                        <a:srgbClr val="D8DEE4"/>
                      </a:solidFill>
                    </a:lnT>
                    <a:lnB w="9525" cap="flat">
                      <a:solidFill>
                        <a:srgbClr val="D8DEE4"/>
                      </a:solidFill>
                    </a:lnB>
                  </a:tcPr>
                </a:tc>
              </a:tr>
              <a:tr h="373380"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33404F"/>
                          </a:solidFill>
                        </a:rPr>
                        <a:t>巴菲特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9525" cap="flat">
                      <a:solidFill>
                        <a:srgbClr val="D8DEE4"/>
                      </a:solidFill>
                    </a:lnL>
                    <a:lnR w="9525" cap="flat">
                      <a:solidFill>
                        <a:srgbClr val="D8DEE4"/>
                      </a:solidFill>
                    </a:lnR>
                    <a:lnT w="9525" cap="flat">
                      <a:solidFill>
                        <a:srgbClr val="D8DEE4"/>
                      </a:solidFill>
                    </a:lnT>
                    <a:lnB w="9525" cap="flat">
                      <a:solidFill>
                        <a:srgbClr val="D8DE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E54545"/>
                          </a:solidFill>
                        </a:rPr>
                        <a:t>看多 +0.75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9525" cap="flat">
                      <a:solidFill>
                        <a:srgbClr val="D8DEE4"/>
                      </a:solidFill>
                    </a:lnL>
                    <a:lnR w="9525" cap="flat">
                      <a:solidFill>
                        <a:srgbClr val="D8DEE4"/>
                      </a:solidFill>
                    </a:lnR>
                    <a:lnT w="9525" cap="flat">
                      <a:solidFill>
                        <a:srgbClr val="D8DEE4"/>
                      </a:solidFill>
                    </a:lnT>
                    <a:lnB w="9525" cap="flat">
                      <a:solidFill>
                        <a:srgbClr val="D8DE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33404F"/>
                          </a:solidFill>
                        </a:rPr>
                        <a:t>生态锁定现金流，回购缩减股本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9525" cap="flat">
                      <a:solidFill>
                        <a:srgbClr val="D8DEE4"/>
                      </a:solidFill>
                    </a:lnL>
                    <a:lnR w="9525" cap="flat">
                      <a:solidFill>
                        <a:srgbClr val="D8DEE4"/>
                      </a:solidFill>
                    </a:lnR>
                    <a:lnT w="9525" cap="flat">
                      <a:solidFill>
                        <a:srgbClr val="D8DEE4"/>
                      </a:solidFill>
                    </a:lnT>
                    <a:lnB w="9525" cap="flat">
                      <a:solidFill>
                        <a:srgbClr val="D8DEE4"/>
                      </a:solidFill>
                    </a:lnB>
                  </a:tcPr>
                </a:tc>
              </a:tr>
              <a:tr h="373380"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33404F"/>
                          </a:solidFill>
                        </a:rPr>
                        <a:t>芒格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9525" cap="flat">
                      <a:solidFill>
                        <a:srgbClr val="D8DEE4"/>
                      </a:solidFill>
                    </a:lnL>
                    <a:lnR w="9525" cap="flat">
                      <a:solidFill>
                        <a:srgbClr val="D8DEE4"/>
                      </a:solidFill>
                    </a:lnR>
                    <a:lnT w="9525" cap="flat">
                      <a:solidFill>
                        <a:srgbClr val="D8DEE4"/>
                      </a:solidFill>
                    </a:lnT>
                    <a:lnB w="9525" cap="flat">
                      <a:solidFill>
                        <a:srgbClr val="D8DE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E54545"/>
                          </a:solidFill>
                        </a:rPr>
                        <a:t>看多 +0.50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9525" cap="flat">
                      <a:solidFill>
                        <a:srgbClr val="D8DEE4"/>
                      </a:solidFill>
                    </a:lnL>
                    <a:lnR w="9525" cap="flat">
                      <a:solidFill>
                        <a:srgbClr val="D8DEE4"/>
                      </a:solidFill>
                    </a:lnR>
                    <a:lnT w="9525" cap="flat">
                      <a:solidFill>
                        <a:srgbClr val="D8DEE4"/>
                      </a:solidFill>
                    </a:lnT>
                    <a:lnB w="9525" cap="flat">
                      <a:solidFill>
                        <a:srgbClr val="D8DE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33404F"/>
                          </a:solidFill>
                        </a:rPr>
                        <a:t>品牌+理性回购，警惕监管反身性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9525" cap="flat">
                      <a:solidFill>
                        <a:srgbClr val="D8DEE4"/>
                      </a:solidFill>
                    </a:lnL>
                    <a:lnR w="9525" cap="flat">
                      <a:solidFill>
                        <a:srgbClr val="D8DEE4"/>
                      </a:solidFill>
                    </a:lnR>
                    <a:lnT w="9525" cap="flat">
                      <a:solidFill>
                        <a:srgbClr val="D8DEE4"/>
                      </a:solidFill>
                    </a:lnT>
                    <a:lnB w="9525" cap="flat">
                      <a:solidFill>
                        <a:srgbClr val="D8DEE4"/>
                      </a:solidFill>
                    </a:lnB>
                  </a:tcPr>
                </a:tc>
              </a:tr>
              <a:tr h="373380"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33404F"/>
                          </a:solidFill>
                        </a:rPr>
                        <a:t>彼得·林奇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9525" cap="flat">
                      <a:solidFill>
                        <a:srgbClr val="D8DEE4"/>
                      </a:solidFill>
                    </a:lnL>
                    <a:lnR w="9525" cap="flat">
                      <a:solidFill>
                        <a:srgbClr val="D8DEE4"/>
                      </a:solidFill>
                    </a:lnR>
                    <a:lnT w="9525" cap="flat">
                      <a:solidFill>
                        <a:srgbClr val="D8DEE4"/>
                      </a:solidFill>
                    </a:lnT>
                    <a:lnB w="9525" cap="flat">
                      <a:solidFill>
                        <a:srgbClr val="D8DE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E54545"/>
                          </a:solidFill>
                        </a:rPr>
                        <a:t>看多 +0.30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9525" cap="flat">
                      <a:solidFill>
                        <a:srgbClr val="D8DEE4"/>
                      </a:solidFill>
                    </a:lnL>
                    <a:lnR w="9525" cap="flat">
                      <a:solidFill>
                        <a:srgbClr val="D8DEE4"/>
                      </a:solidFill>
                    </a:lnR>
                    <a:lnT w="9525" cap="flat">
                      <a:solidFill>
                        <a:srgbClr val="D8DEE4"/>
                      </a:solidFill>
                    </a:lnT>
                    <a:lnB w="9525" cap="flat">
                      <a:solidFill>
                        <a:srgbClr val="D8DE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33404F"/>
                          </a:solidFill>
                        </a:rPr>
                        <a:t>稳健增长股，PEG 偏贵但可跟踪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9525" cap="flat">
                      <a:solidFill>
                        <a:srgbClr val="D8DEE4"/>
                      </a:solidFill>
                    </a:lnL>
                    <a:lnR w="9525" cap="flat">
                      <a:solidFill>
                        <a:srgbClr val="D8DEE4"/>
                      </a:solidFill>
                    </a:lnR>
                    <a:lnT w="9525" cap="flat">
                      <a:solidFill>
                        <a:srgbClr val="D8DEE4"/>
                      </a:solidFill>
                    </a:lnT>
                    <a:lnB w="9525" cap="flat">
                      <a:solidFill>
                        <a:srgbClr val="D8DEE4"/>
                      </a:solidFill>
                    </a:lnB>
                  </a:tcPr>
                </a:tc>
              </a:tr>
              <a:tr h="373380"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33404F"/>
                          </a:solidFill>
                        </a:rPr>
                        <a:t>德鲁肯米勒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9525" cap="flat">
                      <a:solidFill>
                        <a:srgbClr val="D8DEE4"/>
                      </a:solidFill>
                    </a:lnL>
                    <a:lnR w="9525" cap="flat">
                      <a:solidFill>
                        <a:srgbClr val="D8DEE4"/>
                      </a:solidFill>
                    </a:lnR>
                    <a:lnT w="9525" cap="flat">
                      <a:solidFill>
                        <a:srgbClr val="D8DEE4"/>
                      </a:solidFill>
                    </a:lnT>
                    <a:lnB w="9525" cap="flat">
                      <a:solidFill>
                        <a:srgbClr val="D8DE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E54545"/>
                          </a:solidFill>
                        </a:rPr>
                        <a:t>看多 +0.20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9525" cap="flat">
                      <a:solidFill>
                        <a:srgbClr val="D8DEE4"/>
                      </a:solidFill>
                    </a:lnL>
                    <a:lnR w="9525" cap="flat">
                      <a:solidFill>
                        <a:srgbClr val="D8DEE4"/>
                      </a:solidFill>
                    </a:lnR>
                    <a:lnT w="9525" cap="flat">
                      <a:solidFill>
                        <a:srgbClr val="D8DEE4"/>
                      </a:solidFill>
                    </a:lnT>
                    <a:lnB w="9525" cap="flat">
                      <a:solidFill>
                        <a:srgbClr val="D8DE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33404F"/>
                          </a:solidFill>
                        </a:rPr>
                        <a:t>防御配置价值，等待宏观赔率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9525" cap="flat">
                      <a:solidFill>
                        <a:srgbClr val="D8DEE4"/>
                      </a:solidFill>
                    </a:lnL>
                    <a:lnR w="9525" cap="flat">
                      <a:solidFill>
                        <a:srgbClr val="D8DEE4"/>
                      </a:solidFill>
                    </a:lnR>
                    <a:lnT w="9525" cap="flat">
                      <a:solidFill>
                        <a:srgbClr val="D8DEE4"/>
                      </a:solidFill>
                    </a:lnT>
                    <a:lnB w="9525" cap="flat">
                      <a:solidFill>
                        <a:srgbClr val="D8DEE4"/>
                      </a:solidFill>
                    </a:lnB>
                  </a:tcPr>
                </a:tc>
              </a:tr>
              <a:tr h="373380"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33404F"/>
                          </a:solidFill>
                        </a:rPr>
                        <a:t>财报漂移(量化)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9525" cap="flat">
                      <a:solidFill>
                        <a:srgbClr val="D8DEE4"/>
                      </a:solidFill>
                    </a:lnL>
                    <a:lnR w="9525" cap="flat">
                      <a:solidFill>
                        <a:srgbClr val="D8DEE4"/>
                      </a:solidFill>
                    </a:lnR>
                    <a:lnT w="9525" cap="flat">
                      <a:solidFill>
                        <a:srgbClr val="D8DEE4"/>
                      </a:solidFill>
                    </a:lnT>
                    <a:lnB w="9525" cap="flat">
                      <a:solidFill>
                        <a:srgbClr val="D8DE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E54545"/>
                          </a:solidFill>
                        </a:rPr>
                        <a:t>看多 +0.25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9525" cap="flat">
                      <a:solidFill>
                        <a:srgbClr val="D8DEE4"/>
                      </a:solidFill>
                    </a:lnL>
                    <a:lnR w="9525" cap="flat">
                      <a:solidFill>
                        <a:srgbClr val="D8DEE4"/>
                      </a:solidFill>
                    </a:lnR>
                    <a:lnT w="9525" cap="flat">
                      <a:solidFill>
                        <a:srgbClr val="D8DEE4"/>
                      </a:solidFill>
                    </a:lnT>
                    <a:lnB w="9525" cap="flat">
                      <a:solidFill>
                        <a:srgbClr val="D8DE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33404F"/>
                          </a:solidFill>
                        </a:rPr>
                        <a:t>SUE 61 分位，公告后漂移温和为正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9525" cap="flat">
                      <a:solidFill>
                        <a:srgbClr val="D8DEE4"/>
                      </a:solidFill>
                    </a:lnL>
                    <a:lnR w="9525" cap="flat">
                      <a:solidFill>
                        <a:srgbClr val="D8DEE4"/>
                      </a:solidFill>
                    </a:lnR>
                    <a:lnT w="9525" cap="flat">
                      <a:solidFill>
                        <a:srgbClr val="D8DEE4"/>
                      </a:solidFill>
                    </a:lnT>
                    <a:lnB w="9525" cap="flat">
                      <a:solidFill>
                        <a:srgbClr val="D8DEE4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11200" y="5029200"/>
            <a:ext cx="7112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8A94A0"/>
                </a:solidFill>
              </a:rPr>
              <a:t>*未配 FINANCIAL_DATASETS_API_KEY 时展示内置示例数据并在界面明确标注；配 key 后同一按钮即为真实 aihf 推理，结果落盘 records/ 供复盘。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1200" y="5537200"/>
            <a:ext cx="711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</a:pPr>
            <a:r>
              <a:rPr sz="1250" b="0" i="0">
                <a:solidFill>
                  <a:srgbClr val="33404F"/>
                </a:solidFill>
              </a:rPr>
              <a:t>· 每位专家一张卡：平均立场 + 强度条 + 逐标的理由，</a:t>
            </a:r>
            <a:r>
              <a:rPr sz="1250" b="1" i="0">
                <a:solidFill>
                  <a:srgbClr val="33404F"/>
                </a:solidFill>
              </a:rPr>
              <a:t>分歧不被和稀泥</a:t>
            </a:r>
          </a:p>
          <a:p>
            <a:pPr algn="l">
              <a:lnSpc>
                <a:spcPct val="165000"/>
              </a:lnSpc>
            </a:pPr>
            <a:r>
              <a:rPr sz="1250" b="0" i="0">
                <a:solidFill>
                  <a:srgbClr val="33404F"/>
                </a:solidFill>
              </a:rPr>
              <a:t>· 底部附组合经理结论：action 与目标权重，信号到仓位的链路完整可见</a:t>
            </a:r>
          </a:p>
        </p:txBody>
      </p:sp>
      <p:pic>
        <p:nvPicPr>
          <p:cNvPr id="9" name="Picture 8" descr="experts-panel.png"/>
          <p:cNvPicPr>
            <a:picLocks noChangeAspect="1"/>
          </p:cNvPicPr>
          <p:nvPr/>
        </p:nvPicPr>
        <p:blipFill>
          <a:blip r:embed="rId2"/>
          <a:srcRect t="16185" b="13565"/>
          <a:stretch>
            <a:fillRect/>
          </a:stretch>
        </p:blipFill>
        <p:spPr>
          <a:xfrm>
            <a:off x="8229600" y="1574800"/>
            <a:ext cx="3251200" cy="4572000"/>
          </a:xfrm>
          <a:prstGeom prst="rect">
            <a:avLst/>
          </a:prstGeom>
          <a:ln w="12700">
            <a:solidFill>
              <a:srgbClr val="D8DEE4"/>
            </a:solidFill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8229600" y="6223000"/>
            <a:ext cx="325120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1100" b="0" i="0">
                <a:solidFill>
                  <a:srgbClr val="8A94A0"/>
                </a:solidFill>
              </a:rPr>
              <a:t>专家团面板实拍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49000" y="6502400"/>
            <a:ext cx="43180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50000"/>
              </a:lnSpc>
            </a:pPr>
            <a:r>
              <a:rPr sz="1100" b="0" i="0">
                <a:solidFill>
                  <a:srgbClr val="8A94A0"/>
                </a:solidFill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1200" y="457200"/>
            <a:ext cx="50800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0C5B43"/>
                </a:solidFill>
              </a:rPr>
              <a:t>TOKEN TRACE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200" y="711200"/>
            <a:ext cx="107696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17233B"/>
                </a:solidFill>
              </a:rPr>
              <a:t>运行轨迹：哪步思考、哪步调工具、各花多少 token</a:t>
            </a:r>
          </a:p>
        </p:txBody>
      </p:sp>
      <p:sp>
        <p:nvSpPr>
          <p:cNvPr id="4" name="Rectangle 3"/>
          <p:cNvSpPr/>
          <p:nvPr/>
        </p:nvSpPr>
        <p:spPr>
          <a:xfrm>
            <a:off x="711200" y="1295400"/>
            <a:ext cx="10769600" cy="1270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1200" y="1574800"/>
            <a:ext cx="107696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300" b="0" i="0">
                <a:solidFill>
                  <a:srgbClr val="33404F"/>
                </a:solidFill>
              </a:rPr>
              <a:t>dsh 每次运行都把完整事件流写进 session 存档（jsonl）。终端在回答返回前解析存档，把思考、工具调用与 token 计量挂到每条回复下方——数据来自 harness 自身记录，不是事后估算。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1200" y="2235200"/>
            <a:ext cx="53340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17233B"/>
                </a:solidFill>
              </a:rPr>
              <a:t>存档里的四类事件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1200" y="2565400"/>
            <a:ext cx="5334000" cy="213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100" b="0" i="0">
                <a:solidFill>
                  <a:srgbClr val="0C5B43"/>
                </a:solidFill>
                <a:latin typeface="JetBrains Mono"/>
                <a:ea typeface="JetBrains Mono"/>
              </a:rPr>
              <a:t>reasoning-chunks</a:t>
            </a:r>
            <a:r>
              <a:rPr sz="1250" b="0" i="0">
                <a:solidFill>
                  <a:srgbClr val="33404F"/>
                </a:solidFill>
              </a:rPr>
              <a:t>　每一步的思考原文</a:t>
            </a:r>
          </a:p>
          <a:p>
            <a:pPr algn="l">
              <a:lnSpc>
                <a:spcPct val="170000"/>
              </a:lnSpc>
            </a:pPr>
            <a:r>
              <a:rPr sz="1100" b="0" i="0">
                <a:solidFill>
                  <a:srgbClr val="0C5B43"/>
                </a:solidFill>
                <a:latin typeface="JetBrains Mono"/>
                <a:ea typeface="JetBrains Mono"/>
              </a:rPr>
              <a:t>tool/call · tool/result</a:t>
            </a:r>
            <a:r>
              <a:rPr sz="1250" b="0" i="0">
                <a:solidFill>
                  <a:srgbClr val="33404F"/>
                </a:solidFill>
              </a:rPr>
              <a:t>　工具名、参数、结果，带 turn/step 编号</a:t>
            </a:r>
          </a:p>
          <a:p>
            <a:pPr algn="l">
              <a:lnSpc>
                <a:spcPct val="170000"/>
              </a:lnSpc>
            </a:pPr>
            <a:r>
              <a:rPr sz="1100" b="0" i="0">
                <a:solidFill>
                  <a:srgbClr val="0C5B43"/>
                </a:solidFill>
                <a:latin typeface="JetBrains Mono"/>
                <a:ea typeface="JetBrains Mono"/>
              </a:rPr>
              <a:t>step/start · step/end</a:t>
            </a:r>
            <a:r>
              <a:rPr sz="1250" b="0" i="0">
                <a:solidFill>
                  <a:srgbClr val="33404F"/>
                </a:solidFill>
              </a:rPr>
              <a:t>　步骤边界</a:t>
            </a:r>
          </a:p>
          <a:p>
            <a:pPr algn="l">
              <a:lnSpc>
                <a:spcPct val="170000"/>
              </a:lnSpc>
            </a:pPr>
            <a:r>
              <a:rPr sz="1100" b="0" i="0">
                <a:solidFill>
                  <a:srgbClr val="0C5B43"/>
                </a:solidFill>
                <a:latin typeface="JetBrains Mono"/>
                <a:ea typeface="JetBrains Mono"/>
              </a:rPr>
              <a:t>assistant/chunk(usage)</a:t>
            </a:r>
            <a:r>
              <a:rPr sz="1250" b="0" i="0">
                <a:solidFill>
                  <a:srgbClr val="33404F"/>
                </a:solidFill>
              </a:rPr>
              <a:t>　每步 input / output / cache / reasoning token</a:t>
            </a:r>
          </a:p>
        </p:txBody>
      </p:sp>
      <p:sp>
        <p:nvSpPr>
          <p:cNvPr id="8" name="Rectangle 7"/>
          <p:cNvSpPr/>
          <p:nvPr/>
        </p:nvSpPr>
        <p:spPr>
          <a:xfrm>
            <a:off x="711200" y="4902200"/>
            <a:ext cx="5334000" cy="1270000"/>
          </a:xfrm>
          <a:prstGeom prst="rect">
            <a:avLst/>
          </a:prstGeom>
          <a:solidFill>
            <a:srgbClr val="F3F5F2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9000" y="5029200"/>
            <a:ext cx="4978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A94A0"/>
                </a:solidFill>
              </a:rPr>
              <a:t>实测一次问答（"贵州茅台现在的市盈率是多少"）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9000" y="5308600"/>
            <a:ext cx="49784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300" b="1" i="0">
                <a:solidFill>
                  <a:srgbClr val="17233B"/>
                </a:solidFill>
              </a:rPr>
              <a:t>8 步 · 8 次工具调用 · 98.4 秒</a:t>
            </a:r>
          </a:p>
          <a:p>
            <a:pPr algn="l">
              <a:lnSpc>
                <a:spcPct val="160000"/>
              </a:lnSpc>
            </a:pPr>
            <a:r>
              <a:rPr sz="1300" b="0" i="0">
                <a:solidFill>
                  <a:srgbClr val="17233B"/>
                </a:solidFill>
              </a:rPr>
              <a:t>输入 15.0k（+108.5k 缓存）· 输出 7.2k · 思考 5.5k tokens</a:t>
            </a:r>
          </a:p>
        </p:txBody>
      </p:sp>
      <p:pic>
        <p:nvPicPr>
          <p:cNvPr id="11" name="Picture 10" descr="trace-summary.png"/>
          <p:cNvPicPr>
            <a:picLocks noChangeAspect="1"/>
          </p:cNvPicPr>
          <p:nvPr/>
        </p:nvPicPr>
        <p:blipFill>
          <a:blip r:embed="rId2"/>
          <a:srcRect l="10134" r="9107"/>
          <a:stretch>
            <a:fillRect/>
          </a:stretch>
        </p:blipFill>
        <p:spPr>
          <a:xfrm>
            <a:off x="6451600" y="2235200"/>
            <a:ext cx="5029200" cy="1270000"/>
          </a:xfrm>
          <a:prstGeom prst="rect">
            <a:avLst/>
          </a:prstGeom>
          <a:ln w="12700">
            <a:solidFill>
              <a:srgbClr val="D8DEE4"/>
            </a:solidFill>
          </a:ln>
          <a:effectLst/>
        </p:spPr>
      </p:pic>
      <p:sp>
        <p:nvSpPr>
          <p:cNvPr id="12" name="TextBox 11"/>
          <p:cNvSpPr txBox="1"/>
          <p:nvPr/>
        </p:nvSpPr>
        <p:spPr>
          <a:xfrm>
            <a:off x="6451600" y="3581400"/>
            <a:ext cx="502920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1100" b="0" i="0">
                <a:solidFill>
                  <a:srgbClr val="8A94A0"/>
                </a:solidFill>
              </a:rPr>
              <a:t>回复下方的轨迹摘要行（可折叠）</a:t>
            </a:r>
          </a:p>
        </p:txBody>
      </p:sp>
      <p:pic>
        <p:nvPicPr>
          <p:cNvPr id="13" name="Picture 12" descr="trace-zoom.png"/>
          <p:cNvPicPr>
            <a:picLocks noChangeAspect="1"/>
          </p:cNvPicPr>
          <p:nvPr/>
        </p:nvPicPr>
        <p:blipFill>
          <a:blip r:embed="rId3"/>
          <a:srcRect t="12000" l="14918" r="12693"/>
          <a:stretch>
            <a:fillRect/>
          </a:stretch>
        </p:blipFill>
        <p:spPr>
          <a:xfrm>
            <a:off x="6451600" y="3911600"/>
            <a:ext cx="5029200" cy="1524000"/>
          </a:xfrm>
          <a:prstGeom prst="rect">
            <a:avLst/>
          </a:prstGeom>
          <a:ln w="12700">
            <a:solidFill>
              <a:srgbClr val="D8DEE4"/>
            </a:solidFill>
          </a:ln>
          <a:effectLst/>
        </p:spPr>
      </p:pic>
      <p:sp>
        <p:nvSpPr>
          <p:cNvPr id="14" name="TextBox 13"/>
          <p:cNvSpPr txBox="1"/>
          <p:nvPr/>
        </p:nvSpPr>
        <p:spPr>
          <a:xfrm>
            <a:off x="6451600" y="5511800"/>
            <a:ext cx="502920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1100" b="0" i="0">
                <a:solidFill>
                  <a:srgbClr val="8A94A0"/>
                </a:solidFill>
              </a:rPr>
              <a:t>展开后：逐步思考 + 工具调用 + 每步 token 小计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1600" y="5791200"/>
            <a:ext cx="50292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8A94A0"/>
                </a:solidFill>
              </a:rPr>
              <a:t>时间线按 step 排列：💭 思考摘要、🔧 工具调用（参数与结果可展开）、in/out/思考 token 逐项列出。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49000" y="6502400"/>
            <a:ext cx="43180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50000"/>
              </a:lnSpc>
            </a:pPr>
            <a:r>
              <a:rPr sz="1100" b="0" i="0">
                <a:solidFill>
                  <a:srgbClr val="8A94A0"/>
                </a:solidFill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1200" y="457200"/>
            <a:ext cx="50800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0C5B43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200" y="711200"/>
            <a:ext cx="107696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17233B"/>
                </a:solidFill>
              </a:rPr>
              <a:t>合规不是贴纸：四层机制写进架构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711200" y="1295400"/>
            <a:ext cx="10769600" cy="1270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1200" y="1651000"/>
            <a:ext cx="5257800" cy="1371600"/>
          </a:xfrm>
          <a:prstGeom prst="roundRect">
            <a:avLst/>
          </a:prstGeom>
          <a:solidFill>
            <a:srgbClr val="F3F5F2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03400"/>
            <a:ext cx="4851400" cy="106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250" b="1" i="0">
                <a:solidFill>
                  <a:srgbClr val="33404F"/>
                </a:solidFill>
              </a:rPr>
              <a:t>① risk-gate 插件强制拦截</a:t>
            </a:r>
          </a:p>
          <a:p>
            <a:pPr algn="l">
              <a:lnSpc>
                <a:spcPct val="160000"/>
              </a:lnSpc>
            </a:pPr>
            <a:r>
              <a:rPr sz="1200" b="0" i="0">
                <a:solidFill>
                  <a:srgbClr val="8A94A0"/>
                </a:solidFill>
              </a:rPr>
              <a:t>券商下单、资金划转命令在工具执行前被拦截，不依赖使用者自觉；实盘请求被明确拒绝并说明原因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23000" y="1651000"/>
            <a:ext cx="5257800" cy="1371600"/>
          </a:xfrm>
          <a:prstGeom prst="roundRect">
            <a:avLst/>
          </a:prstGeom>
          <a:solidFill>
            <a:srgbClr val="F3F5F2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26200" y="1803400"/>
            <a:ext cx="4851400" cy="106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250" b="1" i="0">
                <a:solidFill>
                  <a:srgbClr val="33404F"/>
                </a:solidFill>
              </a:rPr>
              <a:t>② 只读网关</a:t>
            </a:r>
          </a:p>
          <a:p>
            <a:pPr algn="l">
              <a:lnSpc>
                <a:spcPct val="160000"/>
              </a:lnSpc>
            </a:pPr>
            <a:r>
              <a:rPr sz="1200" b="0" i="0">
                <a:solidFill>
                  <a:srgbClr val="8A94A0"/>
                </a:solidFill>
              </a:rPr>
              <a:t>FastAPI 只暴露查询与对话端点，不持有任何交易凭证；行情数据源为免费公开接口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1200" y="3225800"/>
            <a:ext cx="5257800" cy="1371600"/>
          </a:xfrm>
          <a:prstGeom prst="roundRect">
            <a:avLst/>
          </a:prstGeom>
          <a:solidFill>
            <a:srgbClr val="F3F5F2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378200"/>
            <a:ext cx="4851400" cy="106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250" b="1" i="0">
                <a:solidFill>
                  <a:srgbClr val="33404F"/>
                </a:solidFill>
              </a:rPr>
              <a:t>③ 免责声明自动附加</a:t>
            </a:r>
          </a:p>
          <a:p>
            <a:pPr algn="l">
              <a:lnSpc>
                <a:spcPct val="160000"/>
              </a:lnSpc>
            </a:pPr>
            <a:r>
              <a:rPr sz="1200" b="0" i="0">
                <a:solidFill>
                  <a:srgbClr val="8A94A0"/>
                </a:solidFill>
              </a:rPr>
              <a:t>网关在每条 agent 回复末尾核对并补齐"仅供学习研究，不构成投资建议"；状态栏常驻同一提示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3000" y="3225800"/>
            <a:ext cx="5257800" cy="1371600"/>
          </a:xfrm>
          <a:prstGeom prst="roundRect">
            <a:avLst/>
          </a:prstGeom>
          <a:solidFill>
            <a:srgbClr val="F3F5F2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6200" y="3378200"/>
            <a:ext cx="4851400" cy="106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250" b="1" i="0">
                <a:solidFill>
                  <a:srgbClr val="33404F"/>
                </a:solidFill>
              </a:rPr>
              <a:t>④ 示例数据显式标识</a:t>
            </a:r>
          </a:p>
          <a:p>
            <a:pPr algn="l">
              <a:lnSpc>
                <a:spcPct val="160000"/>
              </a:lnSpc>
            </a:pPr>
            <a:r>
              <a:rPr sz="1200" b="0" i="0">
                <a:solidFill>
                  <a:srgbClr val="8A94A0"/>
                </a:solidFill>
              </a:rPr>
              <a:t>未配 API key 时专家团展示内置示例，界面黄色标识"示例数据"，绝不冒充真实信号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1200" y="4978400"/>
            <a:ext cx="10769600" cy="1270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1200" y="5181600"/>
            <a:ext cx="107696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300" b="0" i="0">
                <a:solidFill>
                  <a:srgbClr val="33404F"/>
                </a:solidFill>
              </a:rPr>
              <a:t>项目立场：</a:t>
            </a:r>
            <a:r>
              <a:rPr sz="1300" b="1" i="0">
                <a:solidFill>
                  <a:srgbClr val="33404F"/>
                </a:solidFill>
              </a:rPr>
              <a:t>暂不执行真实交易</a:t>
            </a:r>
            <a:r>
              <a:rPr sz="1300" b="0" i="0">
                <a:solidFill>
                  <a:srgbClr val="33404F"/>
                </a:solidFill>
              </a:rPr>
              <a:t>。整套终端是投研学习环境——行情、信号、回测、轨迹都服务于研究，任何一环都不触碰真实账户。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49000" y="6502400"/>
            <a:ext cx="43180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50000"/>
              </a:lnSpc>
            </a:pPr>
            <a:r>
              <a:rPr sz="1100" b="0" i="0">
                <a:solidFill>
                  <a:srgbClr val="8A94A0"/>
                </a:solidFill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1200" y="457200"/>
            <a:ext cx="50800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0C5B43"/>
                </a:solidFill>
              </a:rPr>
              <a:t>REPRODUCE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200" y="711200"/>
            <a:ext cx="107696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17233B"/>
                </a:solidFill>
              </a:rPr>
              <a:t>两个进程跑起来：复现与实测清单</a:t>
            </a:r>
          </a:p>
        </p:txBody>
      </p:sp>
      <p:sp>
        <p:nvSpPr>
          <p:cNvPr id="4" name="Rectangle 3"/>
          <p:cNvSpPr/>
          <p:nvPr/>
        </p:nvSpPr>
        <p:spPr>
          <a:xfrm>
            <a:off x="711200" y="1295400"/>
            <a:ext cx="10769600" cy="1270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1200" y="1574800"/>
            <a:ext cx="7112000" cy="1905000"/>
          </a:xfrm>
          <a:prstGeom prst="rect">
            <a:avLst/>
          </a:prstGeom>
          <a:solidFill>
            <a:srgbClr val="F3F5F2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9000" y="1701800"/>
            <a:ext cx="6756400" cy="167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 i="0">
                <a:solidFill>
                  <a:srgbClr val="8A94A0"/>
                </a:solidFill>
                <a:latin typeface="JetBrains Mono"/>
                <a:ea typeface="JetBrains Mono"/>
              </a:rPr>
              <a:t># 后端（FastAPI 网关，端口 8321）</a:t>
            </a:r>
          </a:p>
          <a:p>
            <a:pPr algn="l">
              <a:lnSpc>
                <a:spcPct val="155000"/>
              </a:lnSpc>
            </a:pPr>
            <a:r>
              <a:rPr sz="1100" b="0" i="0">
                <a:solidFill>
                  <a:srgbClr val="33404F"/>
                </a:solidFill>
                <a:latin typeface="JetBrains Mono"/>
                <a:ea typeface="JetBrains Mono"/>
              </a:rPr>
              <a:t>$ cd terminal/backend</a:t>
            </a:r>
          </a:p>
          <a:p>
            <a:pPr algn="l">
              <a:lnSpc>
                <a:spcPct val="155000"/>
              </a:lnSpc>
            </a:pPr>
            <a:r>
              <a:rPr sz="1100" b="0" i="0">
                <a:solidFill>
                  <a:srgbClr val="33404F"/>
                </a:solidFill>
                <a:latin typeface="JetBrains Mono"/>
                <a:ea typeface="JetBrains Mono"/>
              </a:rPr>
              <a:t>$ ../.venv/bin/uvicorn app.main:app --port 8321</a:t>
            </a:r>
          </a:p>
          <a:p>
            <a:pPr algn="l">
              <a:lnSpc>
                <a:spcPct val="155000"/>
              </a:lnSpc>
            </a:pPr>
            <a:r>
              <a:rPr sz="1100" b="0" i="0">
                <a:solidFill>
                  <a:srgbClr val="8A94A0"/>
                </a:solidFill>
                <a:latin typeface="JetBrains Mono"/>
                <a:ea typeface="JetBrains Mono"/>
              </a:rPr>
              <a:t># 前端（Vite，端口 5173/5174）</a:t>
            </a:r>
          </a:p>
          <a:p>
            <a:pPr algn="l">
              <a:lnSpc>
                <a:spcPct val="155000"/>
              </a:lnSpc>
            </a:pPr>
            <a:r>
              <a:rPr sz="1100" b="0" i="0">
                <a:solidFill>
                  <a:srgbClr val="33404F"/>
                </a:solidFill>
                <a:latin typeface="JetBrains Mono"/>
                <a:ea typeface="JetBrains Mono"/>
              </a:rPr>
              <a:t>$ cd terminal/web &amp;&amp; npm run dev</a:t>
            </a:r>
          </a:p>
          <a:p>
            <a:pPr algn="l">
              <a:lnSpc>
                <a:spcPct val="155000"/>
              </a:lnSpc>
            </a:pPr>
            <a:r>
              <a:rPr sz="1100" b="0" i="0">
                <a:solidFill>
                  <a:srgbClr val="8A94A0"/>
                </a:solidFill>
                <a:latin typeface="JetBrains Mono"/>
                <a:ea typeface="JetBrains Mono"/>
              </a:rPr>
              <a:t># 依赖：python3.11 venv（vnpy 4.4 / fastapi / zstandard）+ node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1200" y="3733800"/>
            <a:ext cx="71120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17233B"/>
                </a:solidFill>
              </a:rPr>
              <a:t>两个新端点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1200" y="4064000"/>
            <a:ext cx="7112000" cy="106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100" b="0" i="0">
                <a:solidFill>
                  <a:srgbClr val="0C5B43"/>
                </a:solidFill>
                <a:latin typeface="JetBrains Mono"/>
                <a:ea typeface="JetBrains Mono"/>
              </a:rPr>
              <a:t>POST /api/chat</a:t>
            </a:r>
            <a:r>
              <a:rPr sz="1250" b="0" i="0">
                <a:solidFill>
                  <a:srgbClr val="33404F"/>
                </a:solidFill>
              </a:rPr>
              <a:t>　回复 + trace（逐步思考/工具/token/耗时）</a:t>
            </a:r>
          </a:p>
          <a:p>
            <a:pPr algn="l">
              <a:lnSpc>
                <a:spcPct val="170000"/>
              </a:lnSpc>
            </a:pPr>
            <a:r>
              <a:rPr sz="1100" b="0" i="0">
                <a:solidFill>
                  <a:srgbClr val="0C5B43"/>
                </a:solidFill>
                <a:latin typeface="JetBrains Mono"/>
                <a:ea typeface="JetBrains Mono"/>
              </a:rPr>
              <a:t>POST /api/experts</a:t>
            </a:r>
            <a:r>
              <a:rPr sz="1250" b="0" i="0">
                <a:solidFill>
                  <a:srgbClr val="33404F"/>
                </a:solidFill>
              </a:rPr>
              <a:t>　按 ticker 召开专家团，返回结构化信号</a:t>
            </a:r>
          </a:p>
          <a:p>
            <a:pPr algn="l">
              <a:lnSpc>
                <a:spcPct val="170000"/>
              </a:lnSpc>
            </a:pPr>
            <a:r>
              <a:rPr sz="1100" b="0" i="0">
                <a:solidFill>
                  <a:srgbClr val="0C5B43"/>
                </a:solidFill>
                <a:latin typeface="JetBrains Mono"/>
                <a:ea typeface="JetBrains Mono"/>
              </a:rPr>
              <a:t>GET /api/kline · /ws/quotes</a:t>
            </a:r>
            <a:r>
              <a:rPr sz="1250" b="0" i="0">
                <a:solidFill>
                  <a:srgbClr val="33404F"/>
                </a:solidFill>
              </a:rPr>
              <a:t>　行情与推送（既有能力）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574800"/>
            <a:ext cx="32512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7233B"/>
                </a:solidFill>
              </a:rPr>
              <a:t>本机实测（2026-08-15）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930400"/>
            <a:ext cx="3251200" cy="304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5000"/>
              </a:lnSpc>
            </a:pPr>
            <a:r>
              <a:rPr sz="1250" b="1" i="0">
                <a:solidFill>
                  <a:srgbClr val="0C5B43"/>
                </a:solidFill>
              </a:rPr>
              <a:t>✓</a:t>
            </a:r>
            <a:r>
              <a:rPr sz="1250" b="0" i="0">
                <a:solidFill>
                  <a:srgbClr val="33404F"/>
                </a:solidFill>
              </a:rPr>
              <a:t> tsc 类型检查零错误</a:t>
            </a:r>
          </a:p>
          <a:p>
            <a:pPr algn="l">
              <a:lnSpc>
                <a:spcPct val="175000"/>
              </a:lnSpc>
            </a:pPr>
            <a:r>
              <a:rPr sz="1250" b="1" i="0">
                <a:solidFill>
                  <a:srgbClr val="0C5B43"/>
                </a:solidFill>
              </a:rPr>
              <a:t>✓</a:t>
            </a:r>
            <a:r>
              <a:rPr sz="1250" b="0" i="0">
                <a:solidFill>
                  <a:srgbClr val="33404F"/>
                </a:solidFill>
              </a:rPr>
              <a:t> /api/experts 返回 6 专家结构化信号</a:t>
            </a:r>
          </a:p>
          <a:p>
            <a:pPr algn="l">
              <a:lnSpc>
                <a:spcPct val="175000"/>
              </a:lnSpc>
            </a:pPr>
            <a:r>
              <a:rPr sz="1250" b="1" i="0">
                <a:solidFill>
                  <a:srgbClr val="0C5B43"/>
                </a:solidFill>
              </a:rPr>
              <a:t>✓</a:t>
            </a:r>
            <a:r>
              <a:rPr sz="1250" b="0" i="0">
                <a:solidFill>
                  <a:srgbClr val="33404F"/>
                </a:solidFill>
              </a:rPr>
              <a:t> /api/chat 真实 dsh 运行，trace 完整解析</a:t>
            </a:r>
          </a:p>
          <a:p>
            <a:pPr algn="l">
              <a:lnSpc>
                <a:spcPct val="175000"/>
              </a:lnSpc>
            </a:pPr>
            <a:r>
              <a:rPr sz="1250" b="1" i="0">
                <a:solidFill>
                  <a:srgbClr val="0C5B43"/>
                </a:solidFill>
              </a:rPr>
              <a:t>✓</a:t>
            </a:r>
            <a:r>
              <a:rPr sz="1250" b="0" i="0">
                <a:solidFill>
                  <a:srgbClr val="33404F"/>
                </a:solidFill>
              </a:rPr>
              <a:t> 缺 key 走示例数据并显式标注</a:t>
            </a:r>
          </a:p>
          <a:p>
            <a:pPr algn="l">
              <a:lnSpc>
                <a:spcPct val="175000"/>
              </a:lnSpc>
            </a:pPr>
            <a:r>
              <a:rPr sz="1250" b="1" i="0">
                <a:solidFill>
                  <a:srgbClr val="0C5B43"/>
                </a:solidFill>
              </a:rPr>
              <a:t>✓</a:t>
            </a:r>
            <a:r>
              <a:rPr sz="1250" b="0" i="0">
                <a:solidFill>
                  <a:srgbClr val="33404F"/>
                </a:solidFill>
              </a:rPr>
              <a:t> 轨迹摘要与展开时间线 UI 实测</a:t>
            </a:r>
          </a:p>
          <a:p>
            <a:pPr algn="l">
              <a:lnSpc>
                <a:spcPct val="175000"/>
              </a:lnSpc>
            </a:pPr>
            <a:r>
              <a:rPr sz="1250" b="1" i="0">
                <a:solidFill>
                  <a:srgbClr val="0C5B43"/>
                </a:solidFill>
              </a:rPr>
              <a:t>✓</a:t>
            </a:r>
            <a:r>
              <a:rPr sz="1250" b="0" i="0">
                <a:solidFill>
                  <a:srgbClr val="33404F"/>
                </a:solidFill>
              </a:rPr>
              <a:t> K线四周期 + WS 报价推送正常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5181600"/>
            <a:ext cx="3251200" cy="1270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5334000"/>
            <a:ext cx="32512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8A94A0"/>
                </a:solidFill>
              </a:rPr>
              <a:t>真实专家团（消耗 LLM 额度）需配置 FINANCIAL_DATASETS_API_KEY 与一个 LLM key，见 skill/SKILL.md 前置条件。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49000" y="6502400"/>
            <a:ext cx="43180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50000"/>
              </a:lnSpc>
            </a:pPr>
            <a:r>
              <a:rPr sz="1100" b="0" i="0">
                <a:solidFill>
                  <a:srgbClr val="8A94A0"/>
                </a:solidFill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1200" y="1524000"/>
            <a:ext cx="50800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0C5B43"/>
                </a:solidFill>
              </a:rPr>
              <a:t>ALPHA-DESK TERMINAL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200" y="1879600"/>
            <a:ext cx="10769600" cy="635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7233B"/>
                </a:solidFill>
              </a:rPr>
              <a:t>投研的每一步，都应该看得见、数得清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2667000"/>
            <a:ext cx="10769600" cy="355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0" i="0">
                <a:solidFill>
                  <a:srgbClr val="33404F"/>
                </a:solidFill>
              </a:rPr>
              <a:t>专家团让观点有分歧、有理由；运行轨迹让 token 有账可查。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711200" y="3327400"/>
            <a:ext cx="5334000" cy="812800"/>
          </a:xfrm>
          <a:prstGeom prst="rect">
            <a:avLst/>
          </a:prstGeom>
          <a:solidFill>
            <a:srgbClr val="F3F5F2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454400"/>
            <a:ext cx="4978400" cy="55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0" i="0">
                <a:solidFill>
                  <a:srgbClr val="8A94A0"/>
                </a:solidFill>
                <a:latin typeface="JetBrains Mono"/>
                <a:ea typeface="JetBrains Mono"/>
              </a:rPr>
              <a:t># 代码与文档</a:t>
            </a:r>
          </a:p>
          <a:p>
            <a:pPr algn="l">
              <a:lnSpc>
                <a:spcPct val="160000"/>
              </a:lnSpc>
            </a:pPr>
            <a:r>
              <a:rPr sz="1200" b="0" i="0">
                <a:solidFill>
                  <a:srgbClr val="33404F"/>
                </a:solidFill>
                <a:latin typeface="JetBrains Mono"/>
                <a:ea typeface="JetBrains Mono"/>
              </a:rPr>
              <a:t>github.com/JingHao-Leon/dsh-alpha-desk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1200" y="4470400"/>
            <a:ext cx="107696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250" b="1" i="0">
                <a:solidFill>
                  <a:srgbClr val="33404F"/>
                </a:solidFill>
              </a:rPr>
              <a:t>下一步</a:t>
            </a:r>
            <a:r>
              <a:rPr sz="1250" b="0" i="0">
                <a:solidFill>
                  <a:srgbClr val="33404F"/>
                </a:solidFill>
              </a:rPr>
              <a:t>：分时图（当日 tick 面积图）· 单命令启动脚本 · 配 key 后真实专家团月度复盘</a:t>
            </a:r>
          </a:p>
        </p:txBody>
      </p:sp>
      <p:sp>
        <p:nvSpPr>
          <p:cNvPr id="8" name="Rectangle 7"/>
          <p:cNvSpPr/>
          <p:nvPr/>
        </p:nvSpPr>
        <p:spPr>
          <a:xfrm>
            <a:off x="711200" y="5842000"/>
            <a:ext cx="10769600" cy="1270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1200" y="6019800"/>
            <a:ext cx="107696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8A94A0"/>
                </a:solidFill>
              </a:rPr>
              <a:t>本项目仅供学习研究，不构成投资建议 · 暂不执行真实交易 · 回测结果不代表未来收益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0" y="6502400"/>
            <a:ext cx="43180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50000"/>
              </a:lnSpc>
            </a:pPr>
            <a:r>
              <a:rPr sz="1100" b="0" i="0">
                <a:solidFill>
                  <a:srgbClr val="8A94A0"/>
                </a:solidFill>
              </a:rP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